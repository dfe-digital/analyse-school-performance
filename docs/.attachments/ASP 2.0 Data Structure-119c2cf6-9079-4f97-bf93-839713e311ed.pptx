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68" r:id="rId14"/>
    <p:sldId id="269" r:id="rId15"/>
    <p:sldId id="272" r:id="rId16"/>
    <p:sldId id="270" r:id="rId17"/>
    <p:sldId id="271"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992" autoAdjust="0"/>
    <p:restoredTop sz="94660"/>
  </p:normalViewPr>
  <p:slideViewPr>
    <p:cSldViewPr snapToGrid="0">
      <p:cViewPr>
        <p:scale>
          <a:sx n="103" d="100"/>
          <a:sy n="103" d="100"/>
        </p:scale>
        <p:origin x="88" y="2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B6AAA-0EEC-C21F-F798-819E801C4BFA}"/>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B75387B0-9420-A973-FC88-F3C8C11B682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6F39099D-58D6-D817-7FB6-02CA2363CEFA}"/>
              </a:ext>
            </a:extLst>
          </p:cNvPr>
          <p:cNvSpPr>
            <a:spLocks noGrp="1"/>
          </p:cNvSpPr>
          <p:nvPr>
            <p:ph type="dt" sz="half" idx="10"/>
          </p:nvPr>
        </p:nvSpPr>
        <p:spPr/>
        <p:txBody>
          <a:bodyPr/>
          <a:lstStyle/>
          <a:p>
            <a:fld id="{BD832E3A-38D2-4CD1-A01C-D470470F3245}" type="datetimeFigureOut">
              <a:rPr lang="en-GB" smtClean="0"/>
              <a:t>19/09/2023</a:t>
            </a:fld>
            <a:endParaRPr lang="en-GB"/>
          </a:p>
        </p:txBody>
      </p:sp>
      <p:sp>
        <p:nvSpPr>
          <p:cNvPr id="5" name="Footer Placeholder 4">
            <a:extLst>
              <a:ext uri="{FF2B5EF4-FFF2-40B4-BE49-F238E27FC236}">
                <a16:creationId xmlns:a16="http://schemas.microsoft.com/office/drawing/2014/main" id="{4F29D06F-2040-DE6F-3623-88F1FF51007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F5E0DA5-3042-6B52-CD08-79F4E49F8568}"/>
              </a:ext>
            </a:extLst>
          </p:cNvPr>
          <p:cNvSpPr>
            <a:spLocks noGrp="1"/>
          </p:cNvSpPr>
          <p:nvPr>
            <p:ph type="sldNum" sz="quarter" idx="12"/>
          </p:nvPr>
        </p:nvSpPr>
        <p:spPr/>
        <p:txBody>
          <a:bodyPr/>
          <a:lstStyle/>
          <a:p>
            <a:fld id="{F7193299-D38A-4F3F-A811-02F2A9B3ACCA}" type="slidenum">
              <a:rPr lang="en-GB" smtClean="0"/>
              <a:t>‹#›</a:t>
            </a:fld>
            <a:endParaRPr lang="en-GB"/>
          </a:p>
        </p:txBody>
      </p:sp>
    </p:spTree>
    <p:extLst>
      <p:ext uri="{BB962C8B-B14F-4D97-AF65-F5344CB8AC3E}">
        <p14:creationId xmlns:p14="http://schemas.microsoft.com/office/powerpoint/2010/main" val="8772844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D4763-A082-06E9-8A00-94E795461B77}"/>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56284E6C-92C0-D107-7617-F38E14474BC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18681001-71DF-7660-6849-0C3CA3428E01}"/>
              </a:ext>
            </a:extLst>
          </p:cNvPr>
          <p:cNvSpPr>
            <a:spLocks noGrp="1"/>
          </p:cNvSpPr>
          <p:nvPr>
            <p:ph type="dt" sz="half" idx="10"/>
          </p:nvPr>
        </p:nvSpPr>
        <p:spPr/>
        <p:txBody>
          <a:bodyPr/>
          <a:lstStyle/>
          <a:p>
            <a:fld id="{BD832E3A-38D2-4CD1-A01C-D470470F3245}" type="datetimeFigureOut">
              <a:rPr lang="en-GB" smtClean="0"/>
              <a:t>19/09/2023</a:t>
            </a:fld>
            <a:endParaRPr lang="en-GB"/>
          </a:p>
        </p:txBody>
      </p:sp>
      <p:sp>
        <p:nvSpPr>
          <p:cNvPr id="5" name="Footer Placeholder 4">
            <a:extLst>
              <a:ext uri="{FF2B5EF4-FFF2-40B4-BE49-F238E27FC236}">
                <a16:creationId xmlns:a16="http://schemas.microsoft.com/office/drawing/2014/main" id="{0FB2FC9D-EB99-7F09-2DD9-9F29AD02AEC8}"/>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8C4CF59-6F97-CE5B-EA65-12EACAD8DA32}"/>
              </a:ext>
            </a:extLst>
          </p:cNvPr>
          <p:cNvSpPr>
            <a:spLocks noGrp="1"/>
          </p:cNvSpPr>
          <p:nvPr>
            <p:ph type="sldNum" sz="quarter" idx="12"/>
          </p:nvPr>
        </p:nvSpPr>
        <p:spPr/>
        <p:txBody>
          <a:bodyPr/>
          <a:lstStyle/>
          <a:p>
            <a:fld id="{F7193299-D38A-4F3F-A811-02F2A9B3ACCA}" type="slidenum">
              <a:rPr lang="en-GB" smtClean="0"/>
              <a:t>‹#›</a:t>
            </a:fld>
            <a:endParaRPr lang="en-GB"/>
          </a:p>
        </p:txBody>
      </p:sp>
    </p:spTree>
    <p:extLst>
      <p:ext uri="{BB962C8B-B14F-4D97-AF65-F5344CB8AC3E}">
        <p14:creationId xmlns:p14="http://schemas.microsoft.com/office/powerpoint/2010/main" val="36267296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6FACC-4E72-1D4C-C38E-CD52EA5EFDA6}"/>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A3D28AB3-A59B-2F9B-1A59-35438D706D7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4A79678C-BD94-E932-47F0-6AE0C1F2928D}"/>
              </a:ext>
            </a:extLst>
          </p:cNvPr>
          <p:cNvSpPr>
            <a:spLocks noGrp="1"/>
          </p:cNvSpPr>
          <p:nvPr>
            <p:ph type="dt" sz="half" idx="10"/>
          </p:nvPr>
        </p:nvSpPr>
        <p:spPr/>
        <p:txBody>
          <a:bodyPr/>
          <a:lstStyle/>
          <a:p>
            <a:fld id="{BD832E3A-38D2-4CD1-A01C-D470470F3245}" type="datetimeFigureOut">
              <a:rPr lang="en-GB" smtClean="0"/>
              <a:t>19/09/2023</a:t>
            </a:fld>
            <a:endParaRPr lang="en-GB"/>
          </a:p>
        </p:txBody>
      </p:sp>
      <p:sp>
        <p:nvSpPr>
          <p:cNvPr id="5" name="Footer Placeholder 4">
            <a:extLst>
              <a:ext uri="{FF2B5EF4-FFF2-40B4-BE49-F238E27FC236}">
                <a16:creationId xmlns:a16="http://schemas.microsoft.com/office/drawing/2014/main" id="{0270D605-FA2A-BE98-A4B6-CA3675C93B6D}"/>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AAD29C8-FE45-546D-88A7-D3387853FE92}"/>
              </a:ext>
            </a:extLst>
          </p:cNvPr>
          <p:cNvSpPr>
            <a:spLocks noGrp="1"/>
          </p:cNvSpPr>
          <p:nvPr>
            <p:ph type="sldNum" sz="quarter" idx="12"/>
          </p:nvPr>
        </p:nvSpPr>
        <p:spPr/>
        <p:txBody>
          <a:bodyPr/>
          <a:lstStyle/>
          <a:p>
            <a:fld id="{F7193299-D38A-4F3F-A811-02F2A9B3ACCA}" type="slidenum">
              <a:rPr lang="en-GB" smtClean="0"/>
              <a:t>‹#›</a:t>
            </a:fld>
            <a:endParaRPr lang="en-GB"/>
          </a:p>
        </p:txBody>
      </p:sp>
    </p:spTree>
    <p:extLst>
      <p:ext uri="{BB962C8B-B14F-4D97-AF65-F5344CB8AC3E}">
        <p14:creationId xmlns:p14="http://schemas.microsoft.com/office/powerpoint/2010/main" val="19521149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AD50C-BDEE-F43B-DAC6-571F0E2D16A0}"/>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73833664-1922-8DEF-3AAB-DDE1184E424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1881995B-B3A5-6DC6-0EEC-9D6B65F0368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6A1EA735-F7C7-2566-C953-CC7742BDB3C7}"/>
              </a:ext>
            </a:extLst>
          </p:cNvPr>
          <p:cNvSpPr>
            <a:spLocks noGrp="1"/>
          </p:cNvSpPr>
          <p:nvPr>
            <p:ph type="dt" sz="half" idx="10"/>
          </p:nvPr>
        </p:nvSpPr>
        <p:spPr/>
        <p:txBody>
          <a:bodyPr/>
          <a:lstStyle/>
          <a:p>
            <a:fld id="{BD832E3A-38D2-4CD1-A01C-D470470F3245}" type="datetimeFigureOut">
              <a:rPr lang="en-GB" smtClean="0"/>
              <a:t>19/09/2023</a:t>
            </a:fld>
            <a:endParaRPr lang="en-GB"/>
          </a:p>
        </p:txBody>
      </p:sp>
      <p:sp>
        <p:nvSpPr>
          <p:cNvPr id="6" name="Footer Placeholder 5">
            <a:extLst>
              <a:ext uri="{FF2B5EF4-FFF2-40B4-BE49-F238E27FC236}">
                <a16:creationId xmlns:a16="http://schemas.microsoft.com/office/drawing/2014/main" id="{EE691C76-1496-76EB-A7E9-35F538B0ED7E}"/>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0C342CE-6231-81EE-DFB4-C0F5FE5E144E}"/>
              </a:ext>
            </a:extLst>
          </p:cNvPr>
          <p:cNvSpPr>
            <a:spLocks noGrp="1"/>
          </p:cNvSpPr>
          <p:nvPr>
            <p:ph type="sldNum" sz="quarter" idx="12"/>
          </p:nvPr>
        </p:nvSpPr>
        <p:spPr/>
        <p:txBody>
          <a:bodyPr/>
          <a:lstStyle/>
          <a:p>
            <a:fld id="{F7193299-D38A-4F3F-A811-02F2A9B3ACCA}" type="slidenum">
              <a:rPr lang="en-GB" smtClean="0"/>
              <a:t>‹#›</a:t>
            </a:fld>
            <a:endParaRPr lang="en-GB"/>
          </a:p>
        </p:txBody>
      </p:sp>
    </p:spTree>
    <p:extLst>
      <p:ext uri="{BB962C8B-B14F-4D97-AF65-F5344CB8AC3E}">
        <p14:creationId xmlns:p14="http://schemas.microsoft.com/office/powerpoint/2010/main" val="8929826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8BDAE0-5932-9912-083D-6E62BEE1DDFB}"/>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20FADE98-B083-BB81-4815-D71AE3CECED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A392CE72-F69F-D2F9-5710-D58BA7E7E35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585FED07-C25F-B603-D144-C7D23C25CB3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493850BE-5F76-8595-490C-0F2AF45778DB}"/>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6330CE50-6956-CBF0-A19A-26F400F3E946}"/>
              </a:ext>
            </a:extLst>
          </p:cNvPr>
          <p:cNvSpPr>
            <a:spLocks noGrp="1"/>
          </p:cNvSpPr>
          <p:nvPr>
            <p:ph type="dt" sz="half" idx="10"/>
          </p:nvPr>
        </p:nvSpPr>
        <p:spPr/>
        <p:txBody>
          <a:bodyPr/>
          <a:lstStyle/>
          <a:p>
            <a:fld id="{BD832E3A-38D2-4CD1-A01C-D470470F3245}" type="datetimeFigureOut">
              <a:rPr lang="en-GB" smtClean="0"/>
              <a:t>19/09/2023</a:t>
            </a:fld>
            <a:endParaRPr lang="en-GB"/>
          </a:p>
        </p:txBody>
      </p:sp>
      <p:sp>
        <p:nvSpPr>
          <p:cNvPr id="8" name="Footer Placeholder 7">
            <a:extLst>
              <a:ext uri="{FF2B5EF4-FFF2-40B4-BE49-F238E27FC236}">
                <a16:creationId xmlns:a16="http://schemas.microsoft.com/office/drawing/2014/main" id="{03791CFD-B0B4-6F4E-0763-263C2CD6A6B8}"/>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2736F85-4667-A9F6-670F-19500C2AF74C}"/>
              </a:ext>
            </a:extLst>
          </p:cNvPr>
          <p:cNvSpPr>
            <a:spLocks noGrp="1"/>
          </p:cNvSpPr>
          <p:nvPr>
            <p:ph type="sldNum" sz="quarter" idx="12"/>
          </p:nvPr>
        </p:nvSpPr>
        <p:spPr/>
        <p:txBody>
          <a:bodyPr/>
          <a:lstStyle/>
          <a:p>
            <a:fld id="{F7193299-D38A-4F3F-A811-02F2A9B3ACCA}" type="slidenum">
              <a:rPr lang="en-GB" smtClean="0"/>
              <a:t>‹#›</a:t>
            </a:fld>
            <a:endParaRPr lang="en-GB"/>
          </a:p>
        </p:txBody>
      </p:sp>
    </p:spTree>
    <p:extLst>
      <p:ext uri="{BB962C8B-B14F-4D97-AF65-F5344CB8AC3E}">
        <p14:creationId xmlns:p14="http://schemas.microsoft.com/office/powerpoint/2010/main" val="2982904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260E2-175B-EA70-9C2D-3CA0D1F8592D}"/>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34EF64B0-72C3-F97D-2B21-052109F37E2A}"/>
              </a:ext>
            </a:extLst>
          </p:cNvPr>
          <p:cNvSpPr>
            <a:spLocks noGrp="1"/>
          </p:cNvSpPr>
          <p:nvPr>
            <p:ph type="dt" sz="half" idx="10"/>
          </p:nvPr>
        </p:nvSpPr>
        <p:spPr/>
        <p:txBody>
          <a:bodyPr/>
          <a:lstStyle/>
          <a:p>
            <a:fld id="{BD832E3A-38D2-4CD1-A01C-D470470F3245}" type="datetimeFigureOut">
              <a:rPr lang="en-GB" smtClean="0"/>
              <a:t>19/09/2023</a:t>
            </a:fld>
            <a:endParaRPr lang="en-GB"/>
          </a:p>
        </p:txBody>
      </p:sp>
      <p:sp>
        <p:nvSpPr>
          <p:cNvPr id="4" name="Footer Placeholder 3">
            <a:extLst>
              <a:ext uri="{FF2B5EF4-FFF2-40B4-BE49-F238E27FC236}">
                <a16:creationId xmlns:a16="http://schemas.microsoft.com/office/drawing/2014/main" id="{1CF8D946-0BE5-BD17-701D-F9EF476284E2}"/>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95F7F16E-34C0-C4E2-437D-6D8964FC44F9}"/>
              </a:ext>
            </a:extLst>
          </p:cNvPr>
          <p:cNvSpPr>
            <a:spLocks noGrp="1"/>
          </p:cNvSpPr>
          <p:nvPr>
            <p:ph type="sldNum" sz="quarter" idx="12"/>
          </p:nvPr>
        </p:nvSpPr>
        <p:spPr/>
        <p:txBody>
          <a:bodyPr/>
          <a:lstStyle/>
          <a:p>
            <a:fld id="{F7193299-D38A-4F3F-A811-02F2A9B3ACCA}" type="slidenum">
              <a:rPr lang="en-GB" smtClean="0"/>
              <a:t>‹#›</a:t>
            </a:fld>
            <a:endParaRPr lang="en-GB"/>
          </a:p>
        </p:txBody>
      </p:sp>
    </p:spTree>
    <p:extLst>
      <p:ext uri="{BB962C8B-B14F-4D97-AF65-F5344CB8AC3E}">
        <p14:creationId xmlns:p14="http://schemas.microsoft.com/office/powerpoint/2010/main" val="41106561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7D1DE6A-8CFE-176F-D2C2-5410BF099818}"/>
              </a:ext>
            </a:extLst>
          </p:cNvPr>
          <p:cNvSpPr>
            <a:spLocks noGrp="1"/>
          </p:cNvSpPr>
          <p:nvPr>
            <p:ph type="dt" sz="half" idx="10"/>
          </p:nvPr>
        </p:nvSpPr>
        <p:spPr/>
        <p:txBody>
          <a:bodyPr/>
          <a:lstStyle/>
          <a:p>
            <a:fld id="{BD832E3A-38D2-4CD1-A01C-D470470F3245}" type="datetimeFigureOut">
              <a:rPr lang="en-GB" smtClean="0"/>
              <a:t>19/09/2023</a:t>
            </a:fld>
            <a:endParaRPr lang="en-GB"/>
          </a:p>
        </p:txBody>
      </p:sp>
      <p:sp>
        <p:nvSpPr>
          <p:cNvPr id="3" name="Footer Placeholder 2">
            <a:extLst>
              <a:ext uri="{FF2B5EF4-FFF2-40B4-BE49-F238E27FC236}">
                <a16:creationId xmlns:a16="http://schemas.microsoft.com/office/drawing/2014/main" id="{174FDE75-8322-6213-4465-290AD52ECFAB}"/>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02D6171A-8808-1942-08A5-D5FDC8896097}"/>
              </a:ext>
            </a:extLst>
          </p:cNvPr>
          <p:cNvSpPr>
            <a:spLocks noGrp="1"/>
          </p:cNvSpPr>
          <p:nvPr>
            <p:ph type="sldNum" sz="quarter" idx="12"/>
          </p:nvPr>
        </p:nvSpPr>
        <p:spPr/>
        <p:txBody>
          <a:bodyPr/>
          <a:lstStyle/>
          <a:p>
            <a:fld id="{F7193299-D38A-4F3F-A811-02F2A9B3ACCA}" type="slidenum">
              <a:rPr lang="en-GB" smtClean="0"/>
              <a:t>‹#›</a:t>
            </a:fld>
            <a:endParaRPr lang="en-GB"/>
          </a:p>
        </p:txBody>
      </p:sp>
    </p:spTree>
    <p:extLst>
      <p:ext uri="{BB962C8B-B14F-4D97-AF65-F5344CB8AC3E}">
        <p14:creationId xmlns:p14="http://schemas.microsoft.com/office/powerpoint/2010/main" val="29469838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9C0F8-9BF3-FA1F-37F2-247600C0320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4D3AE279-0884-3818-C13E-16686D7AD0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800A92FB-2950-E192-BAC9-8344E14E74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DA7E478-7519-1E75-4912-2247AF0CB836}"/>
              </a:ext>
            </a:extLst>
          </p:cNvPr>
          <p:cNvSpPr>
            <a:spLocks noGrp="1"/>
          </p:cNvSpPr>
          <p:nvPr>
            <p:ph type="dt" sz="half" idx="10"/>
          </p:nvPr>
        </p:nvSpPr>
        <p:spPr/>
        <p:txBody>
          <a:bodyPr/>
          <a:lstStyle/>
          <a:p>
            <a:fld id="{BD832E3A-38D2-4CD1-A01C-D470470F3245}" type="datetimeFigureOut">
              <a:rPr lang="en-GB" smtClean="0"/>
              <a:t>19/09/2023</a:t>
            </a:fld>
            <a:endParaRPr lang="en-GB"/>
          </a:p>
        </p:txBody>
      </p:sp>
      <p:sp>
        <p:nvSpPr>
          <p:cNvPr id="6" name="Footer Placeholder 5">
            <a:extLst>
              <a:ext uri="{FF2B5EF4-FFF2-40B4-BE49-F238E27FC236}">
                <a16:creationId xmlns:a16="http://schemas.microsoft.com/office/drawing/2014/main" id="{10A45B30-FF41-F9E0-2422-7E7A560F8978}"/>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A47156B6-75F3-D43B-D97A-C86164156FA5}"/>
              </a:ext>
            </a:extLst>
          </p:cNvPr>
          <p:cNvSpPr>
            <a:spLocks noGrp="1"/>
          </p:cNvSpPr>
          <p:nvPr>
            <p:ph type="sldNum" sz="quarter" idx="12"/>
          </p:nvPr>
        </p:nvSpPr>
        <p:spPr/>
        <p:txBody>
          <a:bodyPr/>
          <a:lstStyle/>
          <a:p>
            <a:fld id="{F7193299-D38A-4F3F-A811-02F2A9B3ACCA}" type="slidenum">
              <a:rPr lang="en-GB" smtClean="0"/>
              <a:t>‹#›</a:t>
            </a:fld>
            <a:endParaRPr lang="en-GB"/>
          </a:p>
        </p:txBody>
      </p:sp>
    </p:spTree>
    <p:extLst>
      <p:ext uri="{BB962C8B-B14F-4D97-AF65-F5344CB8AC3E}">
        <p14:creationId xmlns:p14="http://schemas.microsoft.com/office/powerpoint/2010/main" val="34946423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EA9A5-558D-5E23-AB0B-32975B15217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2E606BBA-3724-C10F-74DF-A9FCBF94CF0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060C7A6F-C9DA-63A6-B78D-B0E0D340A7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C3A8736-1BEF-E0A9-6EC9-66C957837E80}"/>
              </a:ext>
            </a:extLst>
          </p:cNvPr>
          <p:cNvSpPr>
            <a:spLocks noGrp="1"/>
          </p:cNvSpPr>
          <p:nvPr>
            <p:ph type="dt" sz="half" idx="10"/>
          </p:nvPr>
        </p:nvSpPr>
        <p:spPr/>
        <p:txBody>
          <a:bodyPr/>
          <a:lstStyle/>
          <a:p>
            <a:fld id="{BD832E3A-38D2-4CD1-A01C-D470470F3245}" type="datetimeFigureOut">
              <a:rPr lang="en-GB" smtClean="0"/>
              <a:t>19/09/2023</a:t>
            </a:fld>
            <a:endParaRPr lang="en-GB"/>
          </a:p>
        </p:txBody>
      </p:sp>
      <p:sp>
        <p:nvSpPr>
          <p:cNvPr id="6" name="Footer Placeholder 5">
            <a:extLst>
              <a:ext uri="{FF2B5EF4-FFF2-40B4-BE49-F238E27FC236}">
                <a16:creationId xmlns:a16="http://schemas.microsoft.com/office/drawing/2014/main" id="{E4F1CB8D-689A-4E0B-0542-970EF581703C}"/>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729BD70-A73B-8290-ACE5-2A54F13AEFD2}"/>
              </a:ext>
            </a:extLst>
          </p:cNvPr>
          <p:cNvSpPr>
            <a:spLocks noGrp="1"/>
          </p:cNvSpPr>
          <p:nvPr>
            <p:ph type="sldNum" sz="quarter" idx="12"/>
          </p:nvPr>
        </p:nvSpPr>
        <p:spPr/>
        <p:txBody>
          <a:bodyPr/>
          <a:lstStyle/>
          <a:p>
            <a:fld id="{F7193299-D38A-4F3F-A811-02F2A9B3ACCA}" type="slidenum">
              <a:rPr lang="en-GB" smtClean="0"/>
              <a:t>‹#›</a:t>
            </a:fld>
            <a:endParaRPr lang="en-GB"/>
          </a:p>
        </p:txBody>
      </p:sp>
    </p:spTree>
    <p:extLst>
      <p:ext uri="{BB962C8B-B14F-4D97-AF65-F5344CB8AC3E}">
        <p14:creationId xmlns:p14="http://schemas.microsoft.com/office/powerpoint/2010/main" val="36260891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2EAEA-7BA0-1047-BB42-DF47B39F683A}"/>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BC9BE35F-634F-6086-AAE0-34E76F03886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EFEEAEC5-E608-96EE-3644-61F05ED00774}"/>
              </a:ext>
            </a:extLst>
          </p:cNvPr>
          <p:cNvSpPr>
            <a:spLocks noGrp="1"/>
          </p:cNvSpPr>
          <p:nvPr>
            <p:ph type="dt" sz="half" idx="10"/>
          </p:nvPr>
        </p:nvSpPr>
        <p:spPr/>
        <p:txBody>
          <a:bodyPr/>
          <a:lstStyle/>
          <a:p>
            <a:fld id="{BD832E3A-38D2-4CD1-A01C-D470470F3245}" type="datetimeFigureOut">
              <a:rPr lang="en-GB" smtClean="0"/>
              <a:t>19/09/2023</a:t>
            </a:fld>
            <a:endParaRPr lang="en-GB"/>
          </a:p>
        </p:txBody>
      </p:sp>
      <p:sp>
        <p:nvSpPr>
          <p:cNvPr id="5" name="Footer Placeholder 4">
            <a:extLst>
              <a:ext uri="{FF2B5EF4-FFF2-40B4-BE49-F238E27FC236}">
                <a16:creationId xmlns:a16="http://schemas.microsoft.com/office/drawing/2014/main" id="{B9ED83F1-20F7-13AD-0860-344C9E80800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BCC2D0C-4CF5-B385-D216-1767B427C27C}"/>
              </a:ext>
            </a:extLst>
          </p:cNvPr>
          <p:cNvSpPr>
            <a:spLocks noGrp="1"/>
          </p:cNvSpPr>
          <p:nvPr>
            <p:ph type="sldNum" sz="quarter" idx="12"/>
          </p:nvPr>
        </p:nvSpPr>
        <p:spPr/>
        <p:txBody>
          <a:bodyPr/>
          <a:lstStyle/>
          <a:p>
            <a:fld id="{F7193299-D38A-4F3F-A811-02F2A9B3ACCA}" type="slidenum">
              <a:rPr lang="en-GB" smtClean="0"/>
              <a:t>‹#›</a:t>
            </a:fld>
            <a:endParaRPr lang="en-GB"/>
          </a:p>
        </p:txBody>
      </p:sp>
    </p:spTree>
    <p:extLst>
      <p:ext uri="{BB962C8B-B14F-4D97-AF65-F5344CB8AC3E}">
        <p14:creationId xmlns:p14="http://schemas.microsoft.com/office/powerpoint/2010/main" val="34240617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AE3AA41-EAE4-4F26-B69F-7E714009BBE9}"/>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FBDCF83E-F22E-93C9-29E2-9D5487141AA3}"/>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FB505929-E842-11D1-9ECB-3B873596AE98}"/>
              </a:ext>
            </a:extLst>
          </p:cNvPr>
          <p:cNvSpPr>
            <a:spLocks noGrp="1"/>
          </p:cNvSpPr>
          <p:nvPr>
            <p:ph type="dt" sz="half" idx="10"/>
          </p:nvPr>
        </p:nvSpPr>
        <p:spPr/>
        <p:txBody>
          <a:bodyPr/>
          <a:lstStyle/>
          <a:p>
            <a:fld id="{BD832E3A-38D2-4CD1-A01C-D470470F3245}" type="datetimeFigureOut">
              <a:rPr lang="en-GB" smtClean="0"/>
              <a:t>19/09/2023</a:t>
            </a:fld>
            <a:endParaRPr lang="en-GB"/>
          </a:p>
        </p:txBody>
      </p:sp>
      <p:sp>
        <p:nvSpPr>
          <p:cNvPr id="5" name="Footer Placeholder 4">
            <a:extLst>
              <a:ext uri="{FF2B5EF4-FFF2-40B4-BE49-F238E27FC236}">
                <a16:creationId xmlns:a16="http://schemas.microsoft.com/office/drawing/2014/main" id="{7D69B16B-80DB-CD7C-8D4F-BAD28CECDD0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EC16CEF-19BC-F9BF-8AAD-82F08B286BBB}"/>
              </a:ext>
            </a:extLst>
          </p:cNvPr>
          <p:cNvSpPr>
            <a:spLocks noGrp="1"/>
          </p:cNvSpPr>
          <p:nvPr>
            <p:ph type="sldNum" sz="quarter" idx="12"/>
          </p:nvPr>
        </p:nvSpPr>
        <p:spPr/>
        <p:txBody>
          <a:bodyPr/>
          <a:lstStyle/>
          <a:p>
            <a:fld id="{F7193299-D38A-4F3F-A811-02F2A9B3ACCA}" type="slidenum">
              <a:rPr lang="en-GB" smtClean="0"/>
              <a:t>‹#›</a:t>
            </a:fld>
            <a:endParaRPr lang="en-GB"/>
          </a:p>
        </p:txBody>
      </p:sp>
    </p:spTree>
    <p:extLst>
      <p:ext uri="{BB962C8B-B14F-4D97-AF65-F5344CB8AC3E}">
        <p14:creationId xmlns:p14="http://schemas.microsoft.com/office/powerpoint/2010/main" val="30891346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AFC087D-C235-6E23-A82E-2189AD34B6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9B7DB908-F2E9-92A9-6A92-169796939FA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9AA9865D-098D-7D9F-F1D8-B2D961EF449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832E3A-38D2-4CD1-A01C-D470470F3245}" type="datetimeFigureOut">
              <a:rPr lang="en-GB" smtClean="0"/>
              <a:t>19/09/2023</a:t>
            </a:fld>
            <a:endParaRPr lang="en-GB"/>
          </a:p>
        </p:txBody>
      </p:sp>
      <p:sp>
        <p:nvSpPr>
          <p:cNvPr id="5" name="Footer Placeholder 4">
            <a:extLst>
              <a:ext uri="{FF2B5EF4-FFF2-40B4-BE49-F238E27FC236}">
                <a16:creationId xmlns:a16="http://schemas.microsoft.com/office/drawing/2014/main" id="{311E5439-BE8D-FD1A-BF19-DA1ED4759D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CDAACC15-5FC9-AE25-2215-D1099D332A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193299-D38A-4F3F-A811-02F2A9B3ACCA}" type="slidenum">
              <a:rPr lang="en-GB" smtClean="0"/>
              <a:t>‹#›</a:t>
            </a:fld>
            <a:endParaRPr lang="en-GB"/>
          </a:p>
        </p:txBody>
      </p:sp>
    </p:spTree>
    <p:extLst>
      <p:ext uri="{BB962C8B-B14F-4D97-AF65-F5344CB8AC3E}">
        <p14:creationId xmlns:p14="http://schemas.microsoft.com/office/powerpoint/2010/main" val="13764681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4FF7D-7F86-388C-3DBF-7AE7C1DE1AC4}"/>
              </a:ext>
            </a:extLst>
          </p:cNvPr>
          <p:cNvSpPr>
            <a:spLocks noGrp="1"/>
          </p:cNvSpPr>
          <p:nvPr>
            <p:ph type="ctrTitle"/>
          </p:nvPr>
        </p:nvSpPr>
        <p:spPr/>
        <p:txBody>
          <a:bodyPr/>
          <a:lstStyle/>
          <a:p>
            <a:r>
              <a:rPr lang="en-GB" dirty="0"/>
              <a:t>ASP 2.0 Data Storage</a:t>
            </a:r>
          </a:p>
        </p:txBody>
      </p:sp>
      <p:sp>
        <p:nvSpPr>
          <p:cNvPr id="3" name="Subtitle 2">
            <a:extLst>
              <a:ext uri="{FF2B5EF4-FFF2-40B4-BE49-F238E27FC236}">
                <a16:creationId xmlns:a16="http://schemas.microsoft.com/office/drawing/2014/main" id="{F6E3BBA2-9E36-223D-1370-BBB49822003B}"/>
              </a:ext>
            </a:extLst>
          </p:cNvPr>
          <p:cNvSpPr>
            <a:spLocks noGrp="1"/>
          </p:cNvSpPr>
          <p:nvPr>
            <p:ph type="subTitle" idx="1"/>
          </p:nvPr>
        </p:nvSpPr>
        <p:spPr/>
        <p:txBody>
          <a:bodyPr/>
          <a:lstStyle/>
          <a:p>
            <a:r>
              <a:rPr lang="en-GB" dirty="0"/>
              <a:t>Cosmos DB, Partitions, Data Structures and Blob Storage</a:t>
            </a:r>
          </a:p>
        </p:txBody>
      </p:sp>
    </p:spTree>
    <p:extLst>
      <p:ext uri="{BB962C8B-B14F-4D97-AF65-F5344CB8AC3E}">
        <p14:creationId xmlns:p14="http://schemas.microsoft.com/office/powerpoint/2010/main" val="17407515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4C657-7A33-B27F-5547-3B312A3A1911}"/>
              </a:ext>
            </a:extLst>
          </p:cNvPr>
          <p:cNvSpPr>
            <a:spLocks noGrp="1"/>
          </p:cNvSpPr>
          <p:nvPr>
            <p:ph type="title"/>
          </p:nvPr>
        </p:nvSpPr>
        <p:spPr/>
        <p:txBody>
          <a:bodyPr/>
          <a:lstStyle/>
          <a:p>
            <a:r>
              <a:rPr lang="en-GB" dirty="0"/>
              <a:t>Data in ASP</a:t>
            </a:r>
          </a:p>
        </p:txBody>
      </p:sp>
      <p:sp>
        <p:nvSpPr>
          <p:cNvPr id="3" name="Content Placeholder 2">
            <a:extLst>
              <a:ext uri="{FF2B5EF4-FFF2-40B4-BE49-F238E27FC236}">
                <a16:creationId xmlns:a16="http://schemas.microsoft.com/office/drawing/2014/main" id="{18973AF8-7AE9-BEF8-629F-BFDB3C9C6BB1}"/>
              </a:ext>
            </a:extLst>
          </p:cNvPr>
          <p:cNvSpPr>
            <a:spLocks noGrp="1"/>
          </p:cNvSpPr>
          <p:nvPr>
            <p:ph idx="1"/>
          </p:nvPr>
        </p:nvSpPr>
        <p:spPr/>
        <p:txBody>
          <a:bodyPr/>
          <a:lstStyle/>
          <a:p>
            <a:r>
              <a:rPr lang="en-GB" dirty="0"/>
              <a:t>In ASP we release collections of reports called Datasets (Key stage2, Key stage 4, QLA etc)</a:t>
            </a:r>
          </a:p>
          <a:p>
            <a:r>
              <a:rPr lang="en-GB" dirty="0"/>
              <a:t>The reports are dynamic and driven by data</a:t>
            </a:r>
          </a:p>
          <a:p>
            <a:r>
              <a:rPr lang="en-GB" dirty="0"/>
              <a:t>Data released to ASP team in SQL Server tables and imported into Cosmos DB by Data pipelines</a:t>
            </a:r>
          </a:p>
          <a:p>
            <a:r>
              <a:rPr lang="en-GB" dirty="0"/>
              <a:t>ASP 2.0 will manage other data (Page templates, Dataset metadata, Establishments etc.) but Dataset data </a:t>
            </a:r>
          </a:p>
          <a:p>
            <a:pPr lvl="1"/>
            <a:r>
              <a:rPr lang="en-GB" dirty="0"/>
              <a:t>is the biggest: </a:t>
            </a:r>
            <a:r>
              <a:rPr lang="en-GB" b="1" i="0" dirty="0">
                <a:solidFill>
                  <a:srgbClr val="292827"/>
                </a:solidFill>
                <a:effectLst/>
                <a:latin typeface="az_ea_font"/>
              </a:rPr>
              <a:t>165.95 GB</a:t>
            </a:r>
          </a:p>
          <a:p>
            <a:pPr lvl="1"/>
            <a:r>
              <a:rPr lang="en-GB" b="0" i="0" dirty="0">
                <a:solidFill>
                  <a:srgbClr val="292827"/>
                </a:solidFill>
                <a:effectLst/>
                <a:latin typeface="az_ea_font"/>
              </a:rPr>
              <a:t>and most expensive: </a:t>
            </a:r>
            <a:r>
              <a:rPr lang="en-GB" b="1" i="0" dirty="0">
                <a:solidFill>
                  <a:srgbClr val="292827"/>
                </a:solidFill>
                <a:effectLst/>
                <a:latin typeface="az_ea_font"/>
              </a:rPr>
              <a:t>&gt;</a:t>
            </a:r>
            <a:r>
              <a:rPr lang="en-GB" b="1" i="0" dirty="0">
                <a:effectLst/>
                <a:latin typeface="Segoe UI VSS (Regular)"/>
              </a:rPr>
              <a:t>$</a:t>
            </a:r>
            <a:r>
              <a:rPr lang="en-GB" b="1" dirty="0">
                <a:latin typeface="Segoe UI VSS (Regular)"/>
              </a:rPr>
              <a:t>10</a:t>
            </a:r>
            <a:r>
              <a:rPr lang="en-GB" b="1" i="0" dirty="0">
                <a:effectLst/>
                <a:latin typeface="Segoe UI VSS (Regular)"/>
              </a:rPr>
              <a:t>,000 / month </a:t>
            </a:r>
            <a:r>
              <a:rPr lang="en-GB" b="0" i="0" dirty="0">
                <a:effectLst/>
                <a:latin typeface="Segoe UI VSS (Regular)"/>
              </a:rPr>
              <a:t>(!)</a:t>
            </a:r>
            <a:endParaRPr lang="en-GB" dirty="0"/>
          </a:p>
        </p:txBody>
      </p:sp>
    </p:spTree>
    <p:extLst>
      <p:ext uri="{BB962C8B-B14F-4D97-AF65-F5344CB8AC3E}">
        <p14:creationId xmlns:p14="http://schemas.microsoft.com/office/powerpoint/2010/main" val="30440635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B4E91-BBB3-ACCB-F06F-ED648A339C26}"/>
              </a:ext>
            </a:extLst>
          </p:cNvPr>
          <p:cNvSpPr>
            <a:spLocks noGrp="1"/>
          </p:cNvSpPr>
          <p:nvPr>
            <p:ph type="title"/>
          </p:nvPr>
        </p:nvSpPr>
        <p:spPr/>
        <p:txBody>
          <a:bodyPr/>
          <a:lstStyle/>
          <a:p>
            <a:r>
              <a:rPr lang="en-GB" dirty="0"/>
              <a:t>Dataset dimensions</a:t>
            </a:r>
          </a:p>
        </p:txBody>
      </p:sp>
      <p:sp>
        <p:nvSpPr>
          <p:cNvPr id="3" name="Content Placeholder 2">
            <a:extLst>
              <a:ext uri="{FF2B5EF4-FFF2-40B4-BE49-F238E27FC236}">
                <a16:creationId xmlns:a16="http://schemas.microsoft.com/office/drawing/2014/main" id="{40D1A2B6-9776-7969-7E8B-59F1AFEFFF41}"/>
              </a:ext>
            </a:extLst>
          </p:cNvPr>
          <p:cNvSpPr>
            <a:spLocks noGrp="1"/>
          </p:cNvSpPr>
          <p:nvPr>
            <p:ph idx="1"/>
          </p:nvPr>
        </p:nvSpPr>
        <p:spPr/>
        <p:txBody>
          <a:bodyPr>
            <a:normAutofit lnSpcReduction="10000"/>
          </a:bodyPr>
          <a:lstStyle/>
          <a:p>
            <a:r>
              <a:rPr lang="en-GB" dirty="0"/>
              <a:t>Dataset data in ASP can be broken down in several ways:</a:t>
            </a:r>
          </a:p>
          <a:p>
            <a:endParaRPr lang="en-GB" dirty="0"/>
          </a:p>
          <a:p>
            <a:pPr lvl="1"/>
            <a:r>
              <a:rPr lang="en-GB" dirty="0" err="1">
                <a:highlight>
                  <a:srgbClr val="C0C0C0"/>
                </a:highlight>
                <a:latin typeface="Consolas" panose="020B0609020204030204" pitchFamily="49" charset="0"/>
              </a:rPr>
              <a:t>DatasetType</a:t>
            </a:r>
            <a:r>
              <a:rPr lang="en-GB" b="1" dirty="0"/>
              <a:t> </a:t>
            </a:r>
            <a:r>
              <a:rPr lang="en-GB" dirty="0"/>
              <a:t>(KeyStage1, QLA etc)</a:t>
            </a:r>
          </a:p>
          <a:p>
            <a:pPr lvl="1"/>
            <a:r>
              <a:rPr lang="en-GB" dirty="0">
                <a:highlight>
                  <a:srgbClr val="C0C0C0"/>
                </a:highlight>
                <a:latin typeface="Consolas" panose="020B0609020204030204" pitchFamily="49" charset="0"/>
              </a:rPr>
              <a:t>Scope</a:t>
            </a:r>
            <a:r>
              <a:rPr lang="en-GB" b="1" dirty="0"/>
              <a:t> </a:t>
            </a:r>
            <a:r>
              <a:rPr lang="en-GB" dirty="0"/>
              <a:t>(National, LA, School, Pupil)</a:t>
            </a:r>
          </a:p>
          <a:p>
            <a:pPr lvl="1"/>
            <a:r>
              <a:rPr lang="en-GB" dirty="0">
                <a:highlight>
                  <a:srgbClr val="C0C0C0"/>
                </a:highlight>
                <a:latin typeface="Consolas" panose="020B0609020204030204" pitchFamily="49" charset="0"/>
              </a:rPr>
              <a:t>Year</a:t>
            </a:r>
            <a:r>
              <a:rPr lang="en-GB" b="1" dirty="0"/>
              <a:t> </a:t>
            </a:r>
            <a:r>
              <a:rPr lang="en-GB" dirty="0"/>
              <a:t>(2021/22, 2022/23 etc)</a:t>
            </a:r>
          </a:p>
          <a:p>
            <a:pPr lvl="1"/>
            <a:r>
              <a:rPr lang="en-GB" dirty="0">
                <a:highlight>
                  <a:srgbClr val="C0C0C0"/>
                </a:highlight>
                <a:latin typeface="Consolas" panose="020B0609020204030204" pitchFamily="49" charset="0"/>
              </a:rPr>
              <a:t>Version</a:t>
            </a:r>
            <a:r>
              <a:rPr lang="en-GB" b="1" dirty="0"/>
              <a:t> </a:t>
            </a:r>
            <a:r>
              <a:rPr lang="en-GB" dirty="0"/>
              <a:t>(Provisional, Revised, Final)</a:t>
            </a:r>
          </a:p>
          <a:p>
            <a:pPr lvl="1"/>
            <a:endParaRPr lang="en-GB" dirty="0"/>
          </a:p>
          <a:p>
            <a:r>
              <a:rPr lang="en-GB" dirty="0"/>
              <a:t>How is this structured in Cosmos for current ASP?</a:t>
            </a:r>
          </a:p>
          <a:p>
            <a:r>
              <a:rPr lang="en-GB" dirty="0"/>
              <a:t>New container for every combination of the above: </a:t>
            </a:r>
            <a:r>
              <a:rPr lang="en-GB" sz="2400" dirty="0">
                <a:highlight>
                  <a:srgbClr val="C0C0C0"/>
                </a:highlight>
                <a:latin typeface="Consolas" panose="020B0609020204030204" pitchFamily="49" charset="0"/>
              </a:rPr>
              <a:t>KS1_2022_School_Provisional</a:t>
            </a:r>
            <a:r>
              <a:rPr lang="en-GB" dirty="0"/>
              <a:t>, </a:t>
            </a:r>
            <a:r>
              <a:rPr lang="en-GB" sz="2400" dirty="0">
                <a:highlight>
                  <a:srgbClr val="C0C0C0"/>
                </a:highlight>
                <a:latin typeface="Consolas" panose="020B0609020204030204" pitchFamily="49" charset="0"/>
              </a:rPr>
              <a:t>QLA_2023_National_Final</a:t>
            </a:r>
            <a:r>
              <a:rPr lang="en-GB" dirty="0"/>
              <a:t> etc</a:t>
            </a:r>
          </a:p>
        </p:txBody>
      </p:sp>
    </p:spTree>
    <p:extLst>
      <p:ext uri="{BB962C8B-B14F-4D97-AF65-F5344CB8AC3E}">
        <p14:creationId xmlns:p14="http://schemas.microsoft.com/office/powerpoint/2010/main" val="1558466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7660C-B67C-30E4-8F52-D972BF5284A4}"/>
              </a:ext>
            </a:extLst>
          </p:cNvPr>
          <p:cNvSpPr>
            <a:spLocks noGrp="1"/>
          </p:cNvSpPr>
          <p:nvPr>
            <p:ph type="title"/>
          </p:nvPr>
        </p:nvSpPr>
        <p:spPr/>
        <p:txBody>
          <a:bodyPr/>
          <a:lstStyle/>
          <a:p>
            <a:r>
              <a:rPr lang="en-GB" dirty="0"/>
              <a:t>Problems!</a:t>
            </a:r>
          </a:p>
        </p:txBody>
      </p:sp>
      <p:sp>
        <p:nvSpPr>
          <p:cNvPr id="3" name="Content Placeholder 2">
            <a:extLst>
              <a:ext uri="{FF2B5EF4-FFF2-40B4-BE49-F238E27FC236}">
                <a16:creationId xmlns:a16="http://schemas.microsoft.com/office/drawing/2014/main" id="{1ED698F3-95E9-EA75-E49C-35E9369B0A97}"/>
              </a:ext>
            </a:extLst>
          </p:cNvPr>
          <p:cNvSpPr>
            <a:spLocks noGrp="1"/>
          </p:cNvSpPr>
          <p:nvPr>
            <p:ph idx="1"/>
          </p:nvPr>
        </p:nvSpPr>
        <p:spPr/>
        <p:txBody>
          <a:bodyPr>
            <a:normAutofit lnSpcReduction="10000"/>
          </a:bodyPr>
          <a:lstStyle/>
          <a:p>
            <a:r>
              <a:rPr lang="en-GB" b="0" i="0" dirty="0">
                <a:effectLst/>
                <a:latin typeface="Segoe UI VSS (Regular)"/>
              </a:rPr>
              <a:t>Querying data coverage means a separate database query for each container (100’s of queries per page load)</a:t>
            </a:r>
          </a:p>
          <a:p>
            <a:r>
              <a:rPr lang="en-GB" b="0" i="0" dirty="0">
                <a:effectLst/>
                <a:latin typeface="Segoe UI VSS (Regular)"/>
              </a:rPr>
              <a:t>Each container has very low individual throughput</a:t>
            </a:r>
          </a:p>
          <a:p>
            <a:r>
              <a:rPr lang="en-GB" b="0" i="0" dirty="0">
                <a:effectLst/>
                <a:latin typeface="Segoe UI VSS (Regular)"/>
              </a:rPr>
              <a:t>Data replicates structure in source SQL Server tables</a:t>
            </a:r>
          </a:p>
          <a:p>
            <a:pPr lvl="1"/>
            <a:r>
              <a:rPr lang="en-GB" dirty="0">
                <a:latin typeface="Segoe UI VSS (Regular)"/>
              </a:rPr>
              <a:t>Container for each SQL table</a:t>
            </a:r>
          </a:p>
          <a:p>
            <a:pPr lvl="1"/>
            <a:r>
              <a:rPr lang="en-GB" b="0" i="0" dirty="0">
                <a:effectLst/>
                <a:latin typeface="Segoe UI VSS (Regular)"/>
              </a:rPr>
              <a:t>Document for each row in SQL table</a:t>
            </a:r>
          </a:p>
          <a:p>
            <a:pPr lvl="1"/>
            <a:r>
              <a:rPr lang="en-GB" dirty="0">
                <a:latin typeface="Segoe UI VSS (Regular)"/>
              </a:rPr>
              <a:t>N</a:t>
            </a:r>
            <a:r>
              <a:rPr lang="en-GB" b="0" i="0" dirty="0">
                <a:effectLst/>
                <a:latin typeface="Segoe UI VSS (Regular)"/>
              </a:rPr>
              <a:t>ot using Cosmos effectively</a:t>
            </a:r>
          </a:p>
          <a:p>
            <a:r>
              <a:rPr lang="en-GB" b="0" i="0" dirty="0">
                <a:effectLst/>
                <a:latin typeface="Segoe UI VSS (Regular)"/>
              </a:rPr>
              <a:t>Data that's commonly used together is spread across containers</a:t>
            </a:r>
          </a:p>
          <a:p>
            <a:pPr lvl="1"/>
            <a:r>
              <a:rPr lang="en-GB" b="0" i="0" dirty="0">
                <a:effectLst/>
                <a:latin typeface="Segoe UI VSS (Regular)"/>
              </a:rPr>
              <a:t>e.g. school, LA, national data all needed for a single report</a:t>
            </a:r>
          </a:p>
          <a:p>
            <a:pPr lvl="1"/>
            <a:r>
              <a:rPr lang="en-GB" b="0" i="0" dirty="0">
                <a:effectLst/>
                <a:latin typeface="Segoe UI VSS (Regular)"/>
              </a:rPr>
              <a:t>Getting this data requires multiple queries and code to join them together</a:t>
            </a:r>
          </a:p>
          <a:p>
            <a:pPr lvl="1"/>
            <a:endParaRPr lang="en-GB" b="0" i="0" dirty="0">
              <a:effectLst/>
              <a:latin typeface="Segoe UI VSS (Regular)"/>
            </a:endParaRPr>
          </a:p>
        </p:txBody>
      </p:sp>
    </p:spTree>
    <p:extLst>
      <p:ext uri="{BB962C8B-B14F-4D97-AF65-F5344CB8AC3E}">
        <p14:creationId xmlns:p14="http://schemas.microsoft.com/office/powerpoint/2010/main" val="42401059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18565-2D71-66E0-4285-D9CA4A40778D}"/>
              </a:ext>
            </a:extLst>
          </p:cNvPr>
          <p:cNvSpPr>
            <a:spLocks noGrp="1"/>
          </p:cNvSpPr>
          <p:nvPr>
            <p:ph type="title"/>
          </p:nvPr>
        </p:nvSpPr>
        <p:spPr/>
        <p:txBody>
          <a:bodyPr/>
          <a:lstStyle/>
          <a:p>
            <a:r>
              <a:rPr lang="en-GB" dirty="0"/>
              <a:t>Best use of Cosmos for ASP 2.0</a:t>
            </a:r>
          </a:p>
        </p:txBody>
      </p:sp>
      <p:sp>
        <p:nvSpPr>
          <p:cNvPr id="3" name="Content Placeholder 2">
            <a:extLst>
              <a:ext uri="{FF2B5EF4-FFF2-40B4-BE49-F238E27FC236}">
                <a16:creationId xmlns:a16="http://schemas.microsoft.com/office/drawing/2014/main" id="{B7EA2889-AC27-F0C3-CF0D-E5A55620E02D}"/>
              </a:ext>
            </a:extLst>
          </p:cNvPr>
          <p:cNvSpPr>
            <a:spLocks noGrp="1"/>
          </p:cNvSpPr>
          <p:nvPr>
            <p:ph idx="1"/>
          </p:nvPr>
        </p:nvSpPr>
        <p:spPr/>
        <p:txBody>
          <a:bodyPr>
            <a:normAutofit fontScale="92500" lnSpcReduction="20000"/>
          </a:bodyPr>
          <a:lstStyle/>
          <a:p>
            <a:pPr algn="l"/>
            <a:r>
              <a:rPr lang="en-GB" b="0" i="0" dirty="0">
                <a:effectLst/>
                <a:latin typeface="Segoe UI VSS (Regular)"/>
              </a:rPr>
              <a:t>Anything we choose for ASP 2.0 will be better than this!</a:t>
            </a:r>
          </a:p>
          <a:p>
            <a:pPr algn="l"/>
            <a:r>
              <a:rPr lang="en-GB" b="0" i="0" dirty="0">
                <a:effectLst/>
                <a:latin typeface="Segoe UI VSS (Regular)"/>
              </a:rPr>
              <a:t>Areas to consider:</a:t>
            </a:r>
          </a:p>
          <a:p>
            <a:pPr marL="457200" lvl="1" indent="0">
              <a:buNone/>
            </a:pPr>
            <a:r>
              <a:rPr lang="en-GB" b="1" i="0" dirty="0">
                <a:effectLst/>
                <a:latin typeface="Segoe UI VSS (Regular)"/>
              </a:rPr>
              <a:t>1. Containers:</a:t>
            </a:r>
            <a:endParaRPr lang="en-GB" b="0" i="0" dirty="0">
              <a:effectLst/>
              <a:latin typeface="Segoe UI VSS (Regular)"/>
            </a:endParaRPr>
          </a:p>
          <a:p>
            <a:pPr marL="457200" lvl="1" indent="0">
              <a:buNone/>
            </a:pPr>
            <a:r>
              <a:rPr lang="en-GB" b="0" i="0" dirty="0">
                <a:effectLst/>
                <a:latin typeface="Segoe UI VSS (Regular)"/>
              </a:rPr>
              <a:t>How do we split up the data into containers (if at all?)</a:t>
            </a:r>
          </a:p>
          <a:p>
            <a:pPr marL="457200" lvl="1" indent="0">
              <a:buNone/>
            </a:pPr>
            <a:endParaRPr lang="en-GB" b="0" i="0" dirty="0">
              <a:effectLst/>
              <a:latin typeface="Segoe UI VSS (Regular)"/>
            </a:endParaRPr>
          </a:p>
          <a:p>
            <a:pPr marL="457200" lvl="1" indent="0">
              <a:buNone/>
            </a:pPr>
            <a:r>
              <a:rPr lang="en-GB" b="1" i="0" dirty="0">
                <a:effectLst/>
                <a:latin typeface="Segoe UI VSS (Regular)"/>
              </a:rPr>
              <a:t>2. Partition keys</a:t>
            </a:r>
          </a:p>
          <a:p>
            <a:pPr marL="457200" lvl="1" indent="0">
              <a:buNone/>
            </a:pPr>
            <a:r>
              <a:rPr lang="en-GB" b="0" i="0" dirty="0">
                <a:effectLst/>
                <a:latin typeface="Segoe UI VSS (Regular)"/>
              </a:rPr>
              <a:t>How do we partition the data within each container for efficient querying/throughput?</a:t>
            </a:r>
          </a:p>
          <a:p>
            <a:pPr marL="457200" lvl="1" indent="0">
              <a:buNone/>
            </a:pPr>
            <a:endParaRPr lang="en-GB" dirty="0">
              <a:latin typeface="Segoe UI VSS (Regular)"/>
            </a:endParaRPr>
          </a:p>
          <a:p>
            <a:pPr marL="457200" lvl="1" indent="0">
              <a:buNone/>
            </a:pPr>
            <a:r>
              <a:rPr lang="en-GB" b="1" i="0" dirty="0">
                <a:effectLst/>
                <a:latin typeface="Segoe UI VSS (Regular)"/>
              </a:rPr>
              <a:t>3. Denormalization</a:t>
            </a:r>
          </a:p>
          <a:p>
            <a:pPr marL="457200" lvl="1" indent="0">
              <a:buNone/>
            </a:pPr>
            <a:r>
              <a:rPr lang="en-GB" b="0" i="0" dirty="0">
                <a:effectLst/>
                <a:latin typeface="Segoe UI VSS (Regular)"/>
              </a:rPr>
              <a:t>How do we structure the data within a partition - do we have individual documents or one big document containing all the data, or somewhere in between?</a:t>
            </a:r>
          </a:p>
          <a:p>
            <a:pPr algn="l"/>
            <a:r>
              <a:rPr lang="en-GB" dirty="0">
                <a:latin typeface="Segoe UI VSS (Regular)"/>
              </a:rPr>
              <a:t>To answer, n</a:t>
            </a:r>
            <a:r>
              <a:rPr lang="en-GB" b="0" i="0" dirty="0">
                <a:effectLst/>
                <a:latin typeface="Segoe UI VSS (Regular)"/>
              </a:rPr>
              <a:t>eed to look at how the data is commonly used in ASP</a:t>
            </a:r>
          </a:p>
        </p:txBody>
      </p:sp>
    </p:spTree>
    <p:extLst>
      <p:ext uri="{BB962C8B-B14F-4D97-AF65-F5344CB8AC3E}">
        <p14:creationId xmlns:p14="http://schemas.microsoft.com/office/powerpoint/2010/main" val="35480221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81C33-AB7D-1721-7D0E-988F959AC43F}"/>
              </a:ext>
            </a:extLst>
          </p:cNvPr>
          <p:cNvSpPr>
            <a:spLocks noGrp="1"/>
          </p:cNvSpPr>
          <p:nvPr>
            <p:ph type="title"/>
          </p:nvPr>
        </p:nvSpPr>
        <p:spPr/>
        <p:txBody>
          <a:bodyPr/>
          <a:lstStyle/>
          <a:p>
            <a:r>
              <a:rPr lang="en-GB" dirty="0"/>
              <a:t>Querying patterns</a:t>
            </a:r>
          </a:p>
        </p:txBody>
      </p:sp>
      <p:sp>
        <p:nvSpPr>
          <p:cNvPr id="3" name="Content Placeholder 2">
            <a:extLst>
              <a:ext uri="{FF2B5EF4-FFF2-40B4-BE49-F238E27FC236}">
                <a16:creationId xmlns:a16="http://schemas.microsoft.com/office/drawing/2014/main" id="{0874DF9E-50D9-4543-7F3A-FB85F7A6A198}"/>
              </a:ext>
            </a:extLst>
          </p:cNvPr>
          <p:cNvSpPr>
            <a:spLocks noGrp="1"/>
          </p:cNvSpPr>
          <p:nvPr>
            <p:ph idx="1"/>
          </p:nvPr>
        </p:nvSpPr>
        <p:spPr/>
        <p:txBody>
          <a:bodyPr>
            <a:normAutofit fontScale="55000" lnSpcReduction="20000"/>
          </a:bodyPr>
          <a:lstStyle/>
          <a:p>
            <a:pPr algn="l"/>
            <a:r>
              <a:rPr lang="en-GB" b="0" i="0" dirty="0">
                <a:effectLst/>
                <a:latin typeface="Segoe UI VSS (Regular)"/>
              </a:rPr>
              <a:t>There are only a few types of Cosmos DB queries in ASP:</a:t>
            </a:r>
          </a:p>
          <a:p>
            <a:pPr marL="0" indent="0" algn="l">
              <a:buNone/>
            </a:pPr>
            <a:endParaRPr lang="en-GB" b="1" i="0" dirty="0">
              <a:effectLst/>
              <a:latin typeface="Segoe UI VSS (Regular)"/>
            </a:endParaRPr>
          </a:p>
          <a:p>
            <a:pPr marL="0" indent="0" algn="l">
              <a:buNone/>
            </a:pPr>
            <a:r>
              <a:rPr lang="en-GB" b="1" i="0" dirty="0">
                <a:effectLst/>
                <a:latin typeface="Segoe UI VSS (Regular)"/>
              </a:rPr>
              <a:t>LA/MAT/Diocese level</a:t>
            </a:r>
          </a:p>
          <a:p>
            <a:pPr algn="l">
              <a:buFont typeface="+mj-lt"/>
              <a:buAutoNum type="arabicPeriod"/>
            </a:pPr>
            <a:r>
              <a:rPr lang="en-GB" b="0" i="0" dirty="0">
                <a:effectLst/>
                <a:latin typeface="Segoe UI VSS (Regular)"/>
              </a:rPr>
              <a:t>Get LA/national-level data for a given dataset for a specific LA (LA landing page: KS2 and KS4 only)</a:t>
            </a:r>
          </a:p>
          <a:p>
            <a:pPr algn="l">
              <a:buFont typeface="+mj-lt"/>
              <a:buAutoNum type="arabicPeriod"/>
            </a:pPr>
            <a:r>
              <a:rPr lang="en-GB" b="0" i="0" dirty="0">
                <a:effectLst/>
                <a:latin typeface="Segoe UI VSS (Regular)"/>
              </a:rPr>
              <a:t>Does LA-level data exist (data coverage) for all datasets/years for a specific LA (downloads)</a:t>
            </a:r>
          </a:p>
          <a:p>
            <a:pPr algn="l">
              <a:buFont typeface="+mj-lt"/>
              <a:buAutoNum type="arabicPeriod"/>
            </a:pPr>
            <a:r>
              <a:rPr lang="en-GB" b="0" i="0" dirty="0">
                <a:effectLst/>
                <a:latin typeface="Segoe UI VSS (Regular)"/>
              </a:rPr>
              <a:t>Get LA/national-level data for a given dataset/year for a specific LA (downloads)</a:t>
            </a:r>
          </a:p>
          <a:p>
            <a:pPr marL="0" indent="0" algn="l">
              <a:buNone/>
            </a:pPr>
            <a:endParaRPr lang="en-GB" b="1" i="0" dirty="0">
              <a:effectLst/>
              <a:latin typeface="Segoe UI VSS (Regular)"/>
            </a:endParaRPr>
          </a:p>
          <a:p>
            <a:pPr marL="0" indent="0" algn="l">
              <a:buNone/>
            </a:pPr>
            <a:r>
              <a:rPr lang="en-GB" b="1" i="0" dirty="0">
                <a:effectLst/>
                <a:latin typeface="Segoe UI VSS (Regular)"/>
              </a:rPr>
              <a:t>School level</a:t>
            </a:r>
          </a:p>
          <a:p>
            <a:pPr algn="l">
              <a:buFont typeface="+mj-lt"/>
              <a:buAutoNum type="arabicPeriod" startAt="4"/>
            </a:pPr>
            <a:r>
              <a:rPr lang="en-GB" b="0" i="0" dirty="0">
                <a:effectLst/>
                <a:latin typeface="Segoe UI VSS (Regular)"/>
              </a:rPr>
              <a:t>Does LA/national/school/pupil-level data exist (data coverage) for each dataset for all years for a specific URN (to work out what reports to display)</a:t>
            </a:r>
          </a:p>
          <a:p>
            <a:pPr algn="l">
              <a:buFont typeface="+mj-lt"/>
              <a:buAutoNum type="arabicPeriod" startAt="4"/>
            </a:pPr>
            <a:r>
              <a:rPr lang="en-GB" b="0" i="0" dirty="0">
                <a:effectLst/>
                <a:latin typeface="Segoe UI VSS (Regular)"/>
              </a:rPr>
              <a:t>Get LA/national/school/pupil-level data for a given dataset/year for a specific URN (to display a specific report)</a:t>
            </a:r>
          </a:p>
          <a:p>
            <a:pPr algn="l">
              <a:buFont typeface="+mj-lt"/>
              <a:buAutoNum type="arabicPeriod" startAt="4"/>
            </a:pPr>
            <a:r>
              <a:rPr lang="en-GB" b="0" i="0" dirty="0">
                <a:effectLst/>
                <a:latin typeface="Segoe UI VSS (Regular)"/>
              </a:rPr>
              <a:t>Get LA/national/school/pupil-level data for all datasets for a given year for a specific URN (to display a summary report)</a:t>
            </a:r>
          </a:p>
          <a:p>
            <a:pPr algn="l">
              <a:buFont typeface="+mj-lt"/>
              <a:buAutoNum type="arabicPeriod" startAt="4"/>
            </a:pPr>
            <a:r>
              <a:rPr lang="en-GB" b="0" i="0" dirty="0">
                <a:effectLst/>
                <a:latin typeface="Segoe UI VSS (Regular)"/>
              </a:rPr>
              <a:t>Does school-level data exist for each dataset/year for a specific URN (downloads)</a:t>
            </a:r>
          </a:p>
          <a:p>
            <a:pPr algn="l">
              <a:buFont typeface="+mj-lt"/>
              <a:buAutoNum type="arabicPeriod" startAt="4"/>
            </a:pPr>
            <a:r>
              <a:rPr lang="en-GB" b="0" i="0" dirty="0">
                <a:effectLst/>
                <a:latin typeface="Segoe UI VSS (Regular)"/>
              </a:rPr>
              <a:t>Get LA/national/school/pupil-level data for a given dataset/year for a specific URN (downloads)</a:t>
            </a:r>
          </a:p>
        </p:txBody>
      </p:sp>
    </p:spTree>
    <p:extLst>
      <p:ext uri="{BB962C8B-B14F-4D97-AF65-F5344CB8AC3E}">
        <p14:creationId xmlns:p14="http://schemas.microsoft.com/office/powerpoint/2010/main" val="12236715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34999-C944-95D5-467D-E275C2AABAF8}"/>
              </a:ext>
            </a:extLst>
          </p:cNvPr>
          <p:cNvSpPr>
            <a:spLocks noGrp="1"/>
          </p:cNvSpPr>
          <p:nvPr>
            <p:ph type="title"/>
          </p:nvPr>
        </p:nvSpPr>
        <p:spPr/>
        <p:txBody>
          <a:bodyPr/>
          <a:lstStyle/>
          <a:p>
            <a:r>
              <a:rPr lang="en-GB" dirty="0"/>
              <a:t>Containers</a:t>
            </a:r>
          </a:p>
        </p:txBody>
      </p:sp>
      <p:sp>
        <p:nvSpPr>
          <p:cNvPr id="3" name="Content Placeholder 2">
            <a:extLst>
              <a:ext uri="{FF2B5EF4-FFF2-40B4-BE49-F238E27FC236}">
                <a16:creationId xmlns:a16="http://schemas.microsoft.com/office/drawing/2014/main" id="{B1A5A4C4-928D-55B7-1FBD-7611780FA855}"/>
              </a:ext>
            </a:extLst>
          </p:cNvPr>
          <p:cNvSpPr>
            <a:spLocks noGrp="1"/>
          </p:cNvSpPr>
          <p:nvPr>
            <p:ph idx="1"/>
          </p:nvPr>
        </p:nvSpPr>
        <p:spPr/>
        <p:txBody>
          <a:bodyPr/>
          <a:lstStyle/>
          <a:p>
            <a:pPr marL="0" indent="0">
              <a:buNone/>
            </a:pPr>
            <a:r>
              <a:rPr lang="en-GB" dirty="0"/>
              <a:t>Options:</a:t>
            </a:r>
          </a:p>
          <a:p>
            <a:endParaRPr lang="en-GB" dirty="0"/>
          </a:p>
          <a:p>
            <a:r>
              <a:rPr lang="en-GB" dirty="0"/>
              <a:t>One container per combination of </a:t>
            </a:r>
            <a:r>
              <a:rPr lang="en-GB" dirty="0" err="1">
                <a:highlight>
                  <a:srgbClr val="C0C0C0"/>
                </a:highlight>
                <a:latin typeface="Consolas" panose="020B0609020204030204" pitchFamily="49" charset="0"/>
              </a:rPr>
              <a:t>DatasetType</a:t>
            </a:r>
            <a:r>
              <a:rPr lang="en-GB" dirty="0"/>
              <a:t> x </a:t>
            </a:r>
            <a:r>
              <a:rPr lang="en-GB" dirty="0">
                <a:highlight>
                  <a:srgbClr val="C0C0C0"/>
                </a:highlight>
                <a:latin typeface="Consolas" panose="020B0609020204030204" pitchFamily="49" charset="0"/>
              </a:rPr>
              <a:t>Scope</a:t>
            </a:r>
            <a:r>
              <a:rPr lang="en-GB" dirty="0"/>
              <a:t> x </a:t>
            </a:r>
            <a:r>
              <a:rPr lang="en-GB" dirty="0">
                <a:highlight>
                  <a:srgbClr val="C0C0C0"/>
                </a:highlight>
                <a:latin typeface="Consolas" panose="020B0609020204030204" pitchFamily="49" charset="0"/>
              </a:rPr>
              <a:t>Year</a:t>
            </a:r>
            <a:r>
              <a:rPr lang="en-GB" dirty="0"/>
              <a:t> x </a:t>
            </a:r>
            <a:r>
              <a:rPr lang="en-GB" dirty="0">
                <a:highlight>
                  <a:srgbClr val="C0C0C0"/>
                </a:highlight>
                <a:latin typeface="Consolas" panose="020B0609020204030204" pitchFamily="49" charset="0"/>
              </a:rPr>
              <a:t>Version</a:t>
            </a:r>
            <a:r>
              <a:rPr lang="en-GB" dirty="0"/>
              <a:t> (current ASP)</a:t>
            </a:r>
          </a:p>
          <a:p>
            <a:r>
              <a:rPr lang="en-GB" dirty="0"/>
              <a:t>One container per </a:t>
            </a:r>
            <a:r>
              <a:rPr lang="en-GB" dirty="0" err="1">
                <a:highlight>
                  <a:srgbClr val="C0C0C0"/>
                </a:highlight>
                <a:latin typeface="Consolas" panose="020B0609020204030204" pitchFamily="49" charset="0"/>
              </a:rPr>
              <a:t>DatasetType</a:t>
            </a:r>
            <a:endParaRPr lang="en-GB" dirty="0">
              <a:highlight>
                <a:srgbClr val="C0C0C0"/>
              </a:highlight>
              <a:latin typeface="Consolas" panose="020B0609020204030204" pitchFamily="49" charset="0"/>
            </a:endParaRPr>
          </a:p>
          <a:p>
            <a:r>
              <a:rPr lang="en-GB" dirty="0"/>
              <a:t>One container for all </a:t>
            </a:r>
            <a:r>
              <a:rPr lang="en-GB" dirty="0" err="1">
                <a:highlight>
                  <a:srgbClr val="C0C0C0"/>
                </a:highlight>
                <a:latin typeface="Consolas" panose="020B0609020204030204" pitchFamily="49" charset="0"/>
              </a:rPr>
              <a:t>DatasetTypes</a:t>
            </a:r>
            <a:endParaRPr lang="en-GB" dirty="0">
              <a:highlight>
                <a:srgbClr val="C0C0C0"/>
              </a:highlight>
              <a:latin typeface="Consolas" panose="020B0609020204030204" pitchFamily="49" charset="0"/>
            </a:endParaRPr>
          </a:p>
        </p:txBody>
      </p:sp>
    </p:spTree>
    <p:extLst>
      <p:ext uri="{BB962C8B-B14F-4D97-AF65-F5344CB8AC3E}">
        <p14:creationId xmlns:p14="http://schemas.microsoft.com/office/powerpoint/2010/main" val="1539309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EAE43-71B7-E4B6-6C66-D8208AAC49A1}"/>
              </a:ext>
            </a:extLst>
          </p:cNvPr>
          <p:cNvSpPr>
            <a:spLocks noGrp="1"/>
          </p:cNvSpPr>
          <p:nvPr>
            <p:ph type="title"/>
          </p:nvPr>
        </p:nvSpPr>
        <p:spPr/>
        <p:txBody>
          <a:bodyPr>
            <a:normAutofit fontScale="90000"/>
          </a:bodyPr>
          <a:lstStyle/>
          <a:p>
            <a:r>
              <a:rPr lang="en-GB" sz="3600" dirty="0"/>
              <a:t>One container per </a:t>
            </a:r>
            <a:r>
              <a:rPr lang="en-GB" sz="3600" dirty="0" err="1">
                <a:highlight>
                  <a:srgbClr val="C0C0C0"/>
                </a:highlight>
                <a:latin typeface="Consolas" panose="020B0609020204030204" pitchFamily="49" charset="0"/>
              </a:rPr>
              <a:t>DatasetType</a:t>
            </a:r>
            <a:r>
              <a:rPr lang="en-GB" sz="3600" dirty="0"/>
              <a:t> x </a:t>
            </a:r>
            <a:r>
              <a:rPr lang="en-GB" sz="3600" dirty="0">
                <a:highlight>
                  <a:srgbClr val="C0C0C0"/>
                </a:highlight>
                <a:latin typeface="Consolas" panose="020B0609020204030204" pitchFamily="49" charset="0"/>
              </a:rPr>
              <a:t>Scope</a:t>
            </a:r>
            <a:r>
              <a:rPr lang="en-GB" sz="3600" dirty="0"/>
              <a:t> x </a:t>
            </a:r>
            <a:r>
              <a:rPr lang="en-GB" sz="3600" dirty="0">
                <a:highlight>
                  <a:srgbClr val="C0C0C0"/>
                </a:highlight>
                <a:latin typeface="Consolas" panose="020B0609020204030204" pitchFamily="49" charset="0"/>
              </a:rPr>
              <a:t>Year</a:t>
            </a:r>
            <a:r>
              <a:rPr lang="en-GB" sz="3600" dirty="0"/>
              <a:t> x </a:t>
            </a:r>
            <a:r>
              <a:rPr lang="en-GB" sz="3600" dirty="0">
                <a:highlight>
                  <a:srgbClr val="C0C0C0"/>
                </a:highlight>
                <a:latin typeface="Consolas" panose="020B0609020204030204" pitchFamily="49" charset="0"/>
              </a:rPr>
              <a:t>Version</a:t>
            </a:r>
            <a:br>
              <a:rPr lang="en-GB" dirty="0"/>
            </a:br>
            <a:endParaRPr lang="en-GB" dirty="0"/>
          </a:p>
        </p:txBody>
      </p:sp>
      <p:sp>
        <p:nvSpPr>
          <p:cNvPr id="3" name="Content Placeholder 2">
            <a:extLst>
              <a:ext uri="{FF2B5EF4-FFF2-40B4-BE49-F238E27FC236}">
                <a16:creationId xmlns:a16="http://schemas.microsoft.com/office/drawing/2014/main" id="{38208937-6033-6B9A-0DCD-6FFBF434789A}"/>
              </a:ext>
            </a:extLst>
          </p:cNvPr>
          <p:cNvSpPr>
            <a:spLocks noGrp="1"/>
          </p:cNvSpPr>
          <p:nvPr>
            <p:ph idx="1"/>
          </p:nvPr>
        </p:nvSpPr>
        <p:spPr/>
        <p:txBody>
          <a:bodyPr>
            <a:normAutofit fontScale="70000" lnSpcReduction="20000"/>
          </a:bodyPr>
          <a:lstStyle/>
          <a:p>
            <a:pPr marL="0" indent="0">
              <a:buNone/>
            </a:pPr>
            <a:r>
              <a:rPr lang="en-GB" b="1" dirty="0"/>
              <a:t>Advantages</a:t>
            </a:r>
          </a:p>
          <a:p>
            <a:r>
              <a:rPr lang="en-GB" dirty="0"/>
              <a:t>Each container is isolated: can release one version of a dataset without affecting any other versions/other datasets</a:t>
            </a:r>
          </a:p>
          <a:p>
            <a:r>
              <a:rPr lang="en-GB" dirty="0"/>
              <a:t>If a mistake is made in the release, just create a new container and release again</a:t>
            </a:r>
          </a:p>
          <a:p>
            <a:pPr marL="0" indent="0">
              <a:buNone/>
            </a:pPr>
            <a:r>
              <a:rPr lang="en-GB" b="1" dirty="0"/>
              <a:t>Disadvantages</a:t>
            </a:r>
          </a:p>
          <a:p>
            <a:r>
              <a:rPr lang="en-GB" dirty="0"/>
              <a:t>To know what data is available for an establishment, need a separate query for each container and collate the results in code</a:t>
            </a:r>
          </a:p>
          <a:p>
            <a:r>
              <a:rPr lang="en-GB" dirty="0"/>
              <a:t>The more containers you have the longer this takes and the more expensive it is</a:t>
            </a:r>
          </a:p>
          <a:p>
            <a:pPr marL="0" indent="0">
              <a:buNone/>
            </a:pPr>
            <a:r>
              <a:rPr lang="en-GB" b="1" dirty="0"/>
              <a:t>Neutral</a:t>
            </a:r>
          </a:p>
          <a:p>
            <a:r>
              <a:rPr lang="en-GB" dirty="0"/>
              <a:t>Each </a:t>
            </a:r>
            <a:r>
              <a:rPr lang="en-GB" dirty="0" err="1"/>
              <a:t>DatasetType</a:t>
            </a:r>
            <a:r>
              <a:rPr lang="en-GB" dirty="0"/>
              <a:t>/Scope/Year/Version combination is a separate container – need some way of knowing which container corresponds to which combination. </a:t>
            </a:r>
          </a:p>
          <a:p>
            <a:r>
              <a:rPr lang="en-GB" dirty="0"/>
              <a:t>This could be done by convention (e.g. the name of the container is structured in a predefined way) - or by hardcoding the container names so a new container requires a code change (guess which way it is done in ASP?)</a:t>
            </a:r>
          </a:p>
        </p:txBody>
      </p:sp>
    </p:spTree>
    <p:extLst>
      <p:ext uri="{BB962C8B-B14F-4D97-AF65-F5344CB8AC3E}">
        <p14:creationId xmlns:p14="http://schemas.microsoft.com/office/powerpoint/2010/main" val="34560922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2A7D6-334A-374C-D9AC-763FA7676B21}"/>
              </a:ext>
            </a:extLst>
          </p:cNvPr>
          <p:cNvSpPr>
            <a:spLocks noGrp="1"/>
          </p:cNvSpPr>
          <p:nvPr>
            <p:ph type="title"/>
          </p:nvPr>
        </p:nvSpPr>
        <p:spPr/>
        <p:txBody>
          <a:bodyPr/>
          <a:lstStyle/>
          <a:p>
            <a:r>
              <a:rPr lang="en-GB" dirty="0"/>
              <a:t>One container per </a:t>
            </a:r>
            <a:r>
              <a:rPr lang="en-GB" dirty="0" err="1">
                <a:highlight>
                  <a:srgbClr val="C0C0C0"/>
                </a:highlight>
                <a:latin typeface="Consolas" panose="020B0609020204030204" pitchFamily="49" charset="0"/>
              </a:rPr>
              <a:t>DatasetType</a:t>
            </a:r>
            <a:endParaRPr lang="en-GB" dirty="0">
              <a:highlight>
                <a:srgbClr val="C0C0C0"/>
              </a:highlight>
              <a:latin typeface="Consolas" panose="020B0609020204030204" pitchFamily="49" charset="0"/>
            </a:endParaRPr>
          </a:p>
        </p:txBody>
      </p:sp>
      <p:sp>
        <p:nvSpPr>
          <p:cNvPr id="3" name="Content Placeholder 2">
            <a:extLst>
              <a:ext uri="{FF2B5EF4-FFF2-40B4-BE49-F238E27FC236}">
                <a16:creationId xmlns:a16="http://schemas.microsoft.com/office/drawing/2014/main" id="{2E452845-533C-428D-9B9F-D24B9A8E45EE}"/>
              </a:ext>
            </a:extLst>
          </p:cNvPr>
          <p:cNvSpPr>
            <a:spLocks noGrp="1"/>
          </p:cNvSpPr>
          <p:nvPr>
            <p:ph idx="1"/>
          </p:nvPr>
        </p:nvSpPr>
        <p:spPr/>
        <p:txBody>
          <a:bodyPr>
            <a:normAutofit fontScale="55000" lnSpcReduction="20000"/>
          </a:bodyPr>
          <a:lstStyle/>
          <a:p>
            <a:pPr marL="0" indent="0">
              <a:buNone/>
            </a:pPr>
            <a:r>
              <a:rPr lang="en-GB" b="1" dirty="0"/>
              <a:t>Advantages</a:t>
            </a:r>
          </a:p>
          <a:p>
            <a:r>
              <a:rPr lang="en-GB" dirty="0"/>
              <a:t>Each </a:t>
            </a:r>
            <a:r>
              <a:rPr lang="en-GB" dirty="0" err="1"/>
              <a:t>DatasetType</a:t>
            </a:r>
            <a:r>
              <a:rPr lang="en-GB" dirty="0"/>
              <a:t> is isolated so releasing to one Dataset can’t impact others</a:t>
            </a:r>
          </a:p>
          <a:p>
            <a:r>
              <a:rPr lang="en-GB" dirty="0"/>
              <a:t>Data within each dataset is easily </a:t>
            </a:r>
            <a:r>
              <a:rPr lang="en-GB" dirty="0" err="1"/>
              <a:t>queryable</a:t>
            </a:r>
            <a:r>
              <a:rPr lang="en-GB" dirty="0"/>
              <a:t>, e.g. finding the latest year/version for a given URN</a:t>
            </a:r>
          </a:p>
          <a:p>
            <a:r>
              <a:rPr lang="en-GB" dirty="0"/>
              <a:t>Logical separation of datasets so can be easier to reason about/find data</a:t>
            </a:r>
          </a:p>
          <a:p>
            <a:r>
              <a:rPr lang="en-GB" dirty="0"/>
              <a:t>Reduced cost - throughput is much more expensive than storage, so although the same amount of data is stored it will be much cheaper to have fewer containers, especially if throughput is low (as it generally is on ASP)</a:t>
            </a:r>
          </a:p>
          <a:p>
            <a:pPr marL="0" indent="0">
              <a:buNone/>
            </a:pPr>
            <a:r>
              <a:rPr lang="en-GB" b="1" dirty="0"/>
              <a:t>Disadvantages</a:t>
            </a:r>
          </a:p>
          <a:p>
            <a:r>
              <a:rPr lang="en-GB" dirty="0"/>
              <a:t>Any query that involves multiple datasets has to involve a separate query for each dataset and collation of the results in code</a:t>
            </a:r>
          </a:p>
          <a:p>
            <a:r>
              <a:rPr lang="en-GB" dirty="0"/>
              <a:t>Have to be careful when releasing a dataset year/version not to overwrite or add to an existing one - would be difficult to correct. Possible mitigations:</a:t>
            </a:r>
          </a:p>
          <a:p>
            <a:pPr lvl="1"/>
            <a:r>
              <a:rPr lang="en-GB" dirty="0"/>
              <a:t>Use auto-generated timestamp field to identify documents that were created on a particular release</a:t>
            </a:r>
          </a:p>
          <a:p>
            <a:pPr lvl="1"/>
            <a:r>
              <a:rPr lang="en-GB" dirty="0"/>
              <a:t>Enforce Insert-only role-based access  to release pipeline database user?</a:t>
            </a:r>
          </a:p>
          <a:p>
            <a:pPr marL="0" indent="0">
              <a:buNone/>
            </a:pPr>
            <a:r>
              <a:rPr lang="en-GB" b="1" dirty="0"/>
              <a:t>Neutral</a:t>
            </a:r>
          </a:p>
          <a:p>
            <a:r>
              <a:rPr lang="en-GB" dirty="0"/>
              <a:t>Something needs to know which container represents which </a:t>
            </a:r>
            <a:r>
              <a:rPr lang="en-GB" dirty="0" err="1"/>
              <a:t>DataSet</a:t>
            </a:r>
            <a:r>
              <a:rPr lang="en-GB" dirty="0"/>
              <a:t> - this is best done by convention on the container name</a:t>
            </a:r>
          </a:p>
          <a:p>
            <a:r>
              <a:rPr lang="en-GB" dirty="0"/>
              <a:t>Each document must have Year, Version, Scope properties defined with predefined values, ideally sortable in a logical way (e.g. if the values for Version are Provisional, Revised, Final this won't work as their sort order would be alphabetical. Better values might be 1 for provisional, 2 for revised and 3 for final.</a:t>
            </a:r>
          </a:p>
        </p:txBody>
      </p:sp>
    </p:spTree>
    <p:extLst>
      <p:ext uri="{BB962C8B-B14F-4D97-AF65-F5344CB8AC3E}">
        <p14:creationId xmlns:p14="http://schemas.microsoft.com/office/powerpoint/2010/main" val="7329747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952D2-5F37-8FAB-3FC9-3594B9C956A7}"/>
              </a:ext>
            </a:extLst>
          </p:cNvPr>
          <p:cNvSpPr>
            <a:spLocks noGrp="1"/>
          </p:cNvSpPr>
          <p:nvPr>
            <p:ph type="title"/>
          </p:nvPr>
        </p:nvSpPr>
        <p:spPr/>
        <p:txBody>
          <a:bodyPr/>
          <a:lstStyle/>
          <a:p>
            <a:r>
              <a:rPr lang="en-GB" dirty="0"/>
              <a:t>One container for all </a:t>
            </a:r>
            <a:r>
              <a:rPr lang="en-GB" dirty="0" err="1">
                <a:highlight>
                  <a:srgbClr val="C0C0C0"/>
                </a:highlight>
                <a:latin typeface="Consolas" panose="020B0609020204030204" pitchFamily="49" charset="0"/>
              </a:rPr>
              <a:t>DatasetType</a:t>
            </a:r>
            <a:r>
              <a:rPr lang="en-GB" dirty="0" err="1"/>
              <a:t>s</a:t>
            </a:r>
            <a:endParaRPr lang="en-GB" dirty="0"/>
          </a:p>
        </p:txBody>
      </p:sp>
      <p:sp>
        <p:nvSpPr>
          <p:cNvPr id="3" name="Content Placeholder 2">
            <a:extLst>
              <a:ext uri="{FF2B5EF4-FFF2-40B4-BE49-F238E27FC236}">
                <a16:creationId xmlns:a16="http://schemas.microsoft.com/office/drawing/2014/main" id="{8D2D4D44-24DA-6F51-92C0-730FA478D974}"/>
              </a:ext>
            </a:extLst>
          </p:cNvPr>
          <p:cNvSpPr>
            <a:spLocks noGrp="1"/>
          </p:cNvSpPr>
          <p:nvPr>
            <p:ph idx="1"/>
          </p:nvPr>
        </p:nvSpPr>
        <p:spPr/>
        <p:txBody>
          <a:bodyPr>
            <a:normAutofit fontScale="92500" lnSpcReduction="20000"/>
          </a:bodyPr>
          <a:lstStyle/>
          <a:p>
            <a:pPr marL="0" indent="0">
              <a:buNone/>
            </a:pPr>
            <a:r>
              <a:rPr lang="en-GB" b="1" dirty="0"/>
              <a:t>Advantages</a:t>
            </a:r>
          </a:p>
          <a:p>
            <a:r>
              <a:rPr lang="en-GB" dirty="0"/>
              <a:t>Can now do a single query to get data coverage across all datasets for a given URN, e.g.</a:t>
            </a:r>
          </a:p>
          <a:p>
            <a:pPr marL="457200" lvl="1" indent="0">
              <a:buNone/>
            </a:pPr>
            <a:r>
              <a:rPr lang="en-GB" sz="1700" dirty="0">
                <a:highlight>
                  <a:srgbClr val="C0C0C0"/>
                </a:highlight>
                <a:latin typeface="Consolas" panose="020B0609020204030204" pitchFamily="49" charset="0"/>
              </a:rPr>
              <a:t>SELECT DISTINCT </a:t>
            </a:r>
            <a:r>
              <a:rPr lang="en-GB" sz="1700" dirty="0" err="1">
                <a:highlight>
                  <a:srgbClr val="C0C0C0"/>
                </a:highlight>
                <a:latin typeface="Consolas" panose="020B0609020204030204" pitchFamily="49" charset="0"/>
              </a:rPr>
              <a:t>c.DataSetType</a:t>
            </a:r>
            <a:r>
              <a:rPr lang="en-GB" sz="1700" dirty="0">
                <a:highlight>
                  <a:srgbClr val="C0C0C0"/>
                </a:highlight>
                <a:latin typeface="Consolas" panose="020B0609020204030204" pitchFamily="49" charset="0"/>
              </a:rPr>
              <a:t>, </a:t>
            </a:r>
            <a:r>
              <a:rPr lang="en-GB" sz="1700" dirty="0" err="1">
                <a:highlight>
                  <a:srgbClr val="C0C0C0"/>
                </a:highlight>
                <a:latin typeface="Consolas" panose="020B0609020204030204" pitchFamily="49" charset="0"/>
              </a:rPr>
              <a:t>c.Year</a:t>
            </a:r>
            <a:r>
              <a:rPr lang="en-GB" sz="1700" dirty="0">
                <a:highlight>
                  <a:srgbClr val="C0C0C0"/>
                </a:highlight>
                <a:latin typeface="Consolas" panose="020B0609020204030204" pitchFamily="49" charset="0"/>
              </a:rPr>
              <a:t>, </a:t>
            </a:r>
            <a:r>
              <a:rPr lang="en-GB" sz="1700" dirty="0" err="1">
                <a:highlight>
                  <a:srgbClr val="C0C0C0"/>
                </a:highlight>
                <a:latin typeface="Consolas" panose="020B0609020204030204" pitchFamily="49" charset="0"/>
              </a:rPr>
              <a:t>c.Version</a:t>
            </a:r>
            <a:r>
              <a:rPr lang="en-GB" sz="1700" dirty="0">
                <a:highlight>
                  <a:srgbClr val="C0C0C0"/>
                </a:highlight>
                <a:latin typeface="Consolas" panose="020B0609020204030204" pitchFamily="49" charset="0"/>
              </a:rPr>
              <a:t> FROM c WHERE </a:t>
            </a:r>
            <a:r>
              <a:rPr lang="en-GB" sz="1700" dirty="0" err="1">
                <a:highlight>
                  <a:srgbClr val="C0C0C0"/>
                </a:highlight>
                <a:latin typeface="Consolas" panose="020B0609020204030204" pitchFamily="49" charset="0"/>
              </a:rPr>
              <a:t>c.Scope</a:t>
            </a:r>
            <a:r>
              <a:rPr lang="en-GB" sz="1700" dirty="0">
                <a:highlight>
                  <a:srgbClr val="C0C0C0"/>
                </a:highlight>
                <a:latin typeface="Consolas" panose="020B0609020204030204" pitchFamily="49" charset="0"/>
              </a:rPr>
              <a:t> = 'School' AND </a:t>
            </a:r>
            <a:r>
              <a:rPr lang="en-GB" sz="1700" dirty="0" err="1">
                <a:highlight>
                  <a:srgbClr val="C0C0C0"/>
                </a:highlight>
                <a:latin typeface="Consolas" panose="020B0609020204030204" pitchFamily="49" charset="0"/>
              </a:rPr>
              <a:t>c.URN</a:t>
            </a:r>
            <a:r>
              <a:rPr lang="en-GB" sz="1700" dirty="0">
                <a:highlight>
                  <a:srgbClr val="C0C0C0"/>
                </a:highlight>
                <a:latin typeface="Consolas" panose="020B0609020204030204" pitchFamily="49" charset="0"/>
              </a:rPr>
              <a:t> = 123456</a:t>
            </a:r>
          </a:p>
          <a:p>
            <a:r>
              <a:rPr lang="en-GB" dirty="0"/>
              <a:t>Running costs will be even lower we have a single container</a:t>
            </a:r>
          </a:p>
          <a:p>
            <a:pPr marL="0" indent="0">
              <a:buNone/>
            </a:pPr>
            <a:r>
              <a:rPr lang="en-GB" b="1" dirty="0"/>
              <a:t>Disadvantages</a:t>
            </a:r>
          </a:p>
          <a:p>
            <a:r>
              <a:rPr lang="en-GB" dirty="0"/>
              <a:t>All dataset data now lives in the same container, so similar to previous case except scope of something going wrong is wider</a:t>
            </a:r>
          </a:p>
          <a:p>
            <a:pPr marL="0" indent="0">
              <a:buNone/>
            </a:pPr>
            <a:r>
              <a:rPr lang="en-GB" b="1" dirty="0"/>
              <a:t>Neutral</a:t>
            </a:r>
          </a:p>
          <a:p>
            <a:r>
              <a:rPr lang="en-GB" dirty="0"/>
              <a:t>Each document must have </a:t>
            </a:r>
            <a:r>
              <a:rPr lang="en-GB" dirty="0" err="1"/>
              <a:t>DatasetType</a:t>
            </a:r>
            <a:r>
              <a:rPr lang="en-GB" dirty="0"/>
              <a:t>, Year, Version, Scope properties defined with predefined values</a:t>
            </a:r>
          </a:p>
        </p:txBody>
      </p:sp>
    </p:spTree>
    <p:extLst>
      <p:ext uri="{BB962C8B-B14F-4D97-AF65-F5344CB8AC3E}">
        <p14:creationId xmlns:p14="http://schemas.microsoft.com/office/powerpoint/2010/main" val="18333992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2387C-49B5-75D2-B7A4-6E824FC58B3D}"/>
              </a:ext>
            </a:extLst>
          </p:cNvPr>
          <p:cNvSpPr>
            <a:spLocks noGrp="1"/>
          </p:cNvSpPr>
          <p:nvPr>
            <p:ph type="title"/>
          </p:nvPr>
        </p:nvSpPr>
        <p:spPr/>
        <p:txBody>
          <a:bodyPr/>
          <a:lstStyle/>
          <a:p>
            <a:r>
              <a:rPr lang="en-GB" dirty="0"/>
              <a:t>Partitions</a:t>
            </a:r>
          </a:p>
        </p:txBody>
      </p:sp>
      <p:sp>
        <p:nvSpPr>
          <p:cNvPr id="3" name="Content Placeholder 2">
            <a:extLst>
              <a:ext uri="{FF2B5EF4-FFF2-40B4-BE49-F238E27FC236}">
                <a16:creationId xmlns:a16="http://schemas.microsoft.com/office/drawing/2014/main" id="{20B39E6E-EC9D-B065-2359-AED99096BDD7}"/>
              </a:ext>
            </a:extLst>
          </p:cNvPr>
          <p:cNvSpPr>
            <a:spLocks noGrp="1"/>
          </p:cNvSpPr>
          <p:nvPr>
            <p:ph idx="1"/>
          </p:nvPr>
        </p:nvSpPr>
        <p:spPr/>
        <p:txBody>
          <a:bodyPr>
            <a:normAutofit fontScale="85000" lnSpcReduction="10000"/>
          </a:bodyPr>
          <a:lstStyle/>
          <a:p>
            <a:pPr algn="l"/>
            <a:r>
              <a:rPr lang="en-GB" dirty="0"/>
              <a:t>Each container in Cosmos DB is split up into partitions</a:t>
            </a:r>
          </a:p>
          <a:p>
            <a:pPr algn="l"/>
            <a:r>
              <a:rPr lang="en-GB" b="1" dirty="0"/>
              <a:t>Physical partitions </a:t>
            </a:r>
            <a:r>
              <a:rPr lang="en-GB" dirty="0"/>
              <a:t>are physical locations where the data is stored (up to 50GB)</a:t>
            </a:r>
          </a:p>
          <a:p>
            <a:pPr algn="l"/>
            <a:r>
              <a:rPr lang="en-GB" dirty="0"/>
              <a:t>Physical partitions are controlled by </a:t>
            </a:r>
            <a:r>
              <a:rPr lang="en-GB" dirty="0" err="1"/>
              <a:t>CosmosDB</a:t>
            </a:r>
            <a:r>
              <a:rPr lang="en-GB" dirty="0"/>
              <a:t> and we don't have access to them</a:t>
            </a:r>
          </a:p>
          <a:p>
            <a:pPr algn="l"/>
            <a:r>
              <a:rPr lang="en-GB" dirty="0"/>
              <a:t>Physical partitions can contain one or more </a:t>
            </a:r>
            <a:r>
              <a:rPr lang="en-GB" b="1" dirty="0"/>
              <a:t>logical partitions </a:t>
            </a:r>
            <a:r>
              <a:rPr lang="en-GB" dirty="0"/>
              <a:t>- distinct sets of data within the (up to 20GB)</a:t>
            </a:r>
          </a:p>
          <a:p>
            <a:pPr algn="l"/>
            <a:r>
              <a:rPr lang="en-GB" dirty="0"/>
              <a:t>Logical partitions are identified by a </a:t>
            </a:r>
            <a:r>
              <a:rPr lang="en-GB" b="1" dirty="0"/>
              <a:t>partition key</a:t>
            </a:r>
            <a:r>
              <a:rPr lang="en-GB" dirty="0"/>
              <a:t>: path to</a:t>
            </a:r>
            <a:r>
              <a:rPr lang="en-GB" b="1" dirty="0"/>
              <a:t> </a:t>
            </a:r>
            <a:r>
              <a:rPr lang="en-GB" dirty="0"/>
              <a:t>a property on all documents within the container</a:t>
            </a:r>
          </a:p>
          <a:p>
            <a:pPr algn="l"/>
            <a:r>
              <a:rPr lang="en-GB" dirty="0"/>
              <a:t>Every document should have partition key property defined when added to a container</a:t>
            </a:r>
          </a:p>
          <a:p>
            <a:pPr algn="l"/>
            <a:r>
              <a:rPr lang="en-GB" dirty="0"/>
              <a:t>Partition key can't be updated on a document once created</a:t>
            </a:r>
          </a:p>
          <a:p>
            <a:pPr algn="l"/>
            <a:r>
              <a:rPr lang="en-GB" dirty="0"/>
              <a:t>Partition key path can’t be changed once a container is created</a:t>
            </a:r>
          </a:p>
          <a:p>
            <a:pPr algn="l"/>
            <a:endParaRPr lang="en-GB" dirty="0"/>
          </a:p>
          <a:p>
            <a:pPr algn="l"/>
            <a:endParaRPr lang="en-GB" dirty="0"/>
          </a:p>
        </p:txBody>
      </p:sp>
    </p:spTree>
    <p:extLst>
      <p:ext uri="{BB962C8B-B14F-4D97-AF65-F5344CB8AC3E}">
        <p14:creationId xmlns:p14="http://schemas.microsoft.com/office/powerpoint/2010/main" val="13907747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871652-55EA-A86D-6479-3547B8449798}"/>
              </a:ext>
            </a:extLst>
          </p:cNvPr>
          <p:cNvSpPr>
            <a:spLocks noGrp="1"/>
          </p:cNvSpPr>
          <p:nvPr>
            <p:ph type="title"/>
          </p:nvPr>
        </p:nvSpPr>
        <p:spPr/>
        <p:txBody>
          <a:bodyPr/>
          <a:lstStyle/>
          <a:p>
            <a:r>
              <a:rPr lang="en-GB" dirty="0"/>
              <a:t>Partition keys</a:t>
            </a:r>
          </a:p>
        </p:txBody>
      </p:sp>
      <p:sp>
        <p:nvSpPr>
          <p:cNvPr id="3" name="Content Placeholder 2">
            <a:extLst>
              <a:ext uri="{FF2B5EF4-FFF2-40B4-BE49-F238E27FC236}">
                <a16:creationId xmlns:a16="http://schemas.microsoft.com/office/drawing/2014/main" id="{0292A902-A878-93F3-BCAF-367612762394}"/>
              </a:ext>
            </a:extLst>
          </p:cNvPr>
          <p:cNvSpPr>
            <a:spLocks noGrp="1"/>
          </p:cNvSpPr>
          <p:nvPr>
            <p:ph idx="1"/>
          </p:nvPr>
        </p:nvSpPr>
        <p:spPr/>
        <p:txBody>
          <a:bodyPr>
            <a:normAutofit fontScale="85000" lnSpcReduction="20000"/>
          </a:bodyPr>
          <a:lstStyle/>
          <a:p>
            <a:pPr marL="0" indent="0">
              <a:buNone/>
            </a:pPr>
            <a:r>
              <a:rPr lang="en-GB" dirty="0"/>
              <a:t>Partition keys should:</a:t>
            </a:r>
          </a:p>
          <a:p>
            <a:pPr marL="971550" lvl="1" indent="-514350">
              <a:buFont typeface="+mj-lt"/>
              <a:buAutoNum type="arabicPeriod"/>
            </a:pPr>
            <a:r>
              <a:rPr lang="en-GB" dirty="0"/>
              <a:t>have a high cardinality (a wide range of possible values)</a:t>
            </a:r>
          </a:p>
          <a:p>
            <a:pPr marL="971550" lvl="1" indent="-514350">
              <a:buFont typeface="+mj-lt"/>
              <a:buAutoNum type="arabicPeriod"/>
            </a:pPr>
            <a:r>
              <a:rPr lang="en-GB" dirty="0"/>
              <a:t>have an even spread of values across this range</a:t>
            </a:r>
          </a:p>
          <a:p>
            <a:pPr marL="971550" lvl="1" indent="-514350">
              <a:buFont typeface="+mj-lt"/>
              <a:buAutoNum type="arabicPeriod"/>
            </a:pPr>
            <a:r>
              <a:rPr lang="en-GB" dirty="0"/>
              <a:t>naturally separate the data into sets that logically live together</a:t>
            </a:r>
          </a:p>
          <a:p>
            <a:r>
              <a:rPr lang="en-GB" dirty="0"/>
              <a:t>The reason for (1) and (2) is to avoid </a:t>
            </a:r>
            <a:r>
              <a:rPr lang="en-GB" b="1" dirty="0"/>
              <a:t>hot partitions </a:t>
            </a:r>
            <a:r>
              <a:rPr lang="en-GB" dirty="0"/>
              <a:t>(partitions that are accessed more than others). </a:t>
            </a:r>
          </a:p>
          <a:p>
            <a:pPr lvl="1"/>
            <a:r>
              <a:rPr lang="en-GB" dirty="0"/>
              <a:t>Throughput on a container is divided equally across physical partitions</a:t>
            </a:r>
          </a:p>
          <a:p>
            <a:pPr lvl="1"/>
            <a:r>
              <a:rPr lang="en-GB" dirty="0"/>
              <a:t>If one partition is accessed more frequently, it might hit the rate limit or cause the whole container to be </a:t>
            </a:r>
            <a:r>
              <a:rPr lang="en-GB" dirty="0" err="1"/>
              <a:t>autoscaled</a:t>
            </a:r>
            <a:r>
              <a:rPr lang="en-GB" dirty="0"/>
              <a:t> upwards (even if the other partitions are well below the limit)</a:t>
            </a:r>
          </a:p>
          <a:p>
            <a:r>
              <a:rPr lang="en-GB" dirty="0"/>
              <a:t>The reason for (3) is that queries that are scoped within a logical partition are much more efficient than queries that span logical partitions </a:t>
            </a:r>
          </a:p>
          <a:p>
            <a:pPr lvl="1"/>
            <a:r>
              <a:rPr lang="en-GB" dirty="0"/>
              <a:t>Partition key is used to identify the physical partition the data is sitting on</a:t>
            </a:r>
          </a:p>
          <a:p>
            <a:pPr lvl="1"/>
            <a:r>
              <a:rPr lang="en-GB" dirty="0"/>
              <a:t>If this can't be inferred from the query then a </a:t>
            </a:r>
            <a:r>
              <a:rPr lang="en-GB" b="1" dirty="0"/>
              <a:t>fanout query </a:t>
            </a:r>
            <a:r>
              <a:rPr lang="en-GB" dirty="0"/>
              <a:t>must be made which executes the query against all the physical partitions and joins the results together. </a:t>
            </a:r>
          </a:p>
          <a:p>
            <a:pPr lvl="1"/>
            <a:r>
              <a:rPr lang="en-GB" dirty="0"/>
              <a:t>This will likely be slower and will almost certainly use more RU's </a:t>
            </a:r>
          </a:p>
          <a:p>
            <a:pPr marL="0" indent="0">
              <a:buNone/>
            </a:pPr>
            <a:endParaRPr lang="en-GB" dirty="0"/>
          </a:p>
        </p:txBody>
      </p:sp>
    </p:spTree>
    <p:extLst>
      <p:ext uri="{BB962C8B-B14F-4D97-AF65-F5344CB8AC3E}">
        <p14:creationId xmlns:p14="http://schemas.microsoft.com/office/powerpoint/2010/main" val="20232386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2445D8-AE89-4566-5862-C1F2B516AAB6}"/>
              </a:ext>
            </a:extLst>
          </p:cNvPr>
          <p:cNvSpPr>
            <a:spLocks noGrp="1"/>
          </p:cNvSpPr>
          <p:nvPr>
            <p:ph type="title"/>
          </p:nvPr>
        </p:nvSpPr>
        <p:spPr/>
        <p:txBody>
          <a:bodyPr/>
          <a:lstStyle/>
          <a:p>
            <a:r>
              <a:rPr lang="en-GB" dirty="0"/>
              <a:t>Possible partition keys</a:t>
            </a:r>
          </a:p>
        </p:txBody>
      </p:sp>
      <p:sp>
        <p:nvSpPr>
          <p:cNvPr id="3" name="Content Placeholder 2">
            <a:extLst>
              <a:ext uri="{FF2B5EF4-FFF2-40B4-BE49-F238E27FC236}">
                <a16:creationId xmlns:a16="http://schemas.microsoft.com/office/drawing/2014/main" id="{0752AA92-A7E4-490A-BCDE-3214BECC1C74}"/>
              </a:ext>
            </a:extLst>
          </p:cNvPr>
          <p:cNvSpPr>
            <a:spLocks noGrp="1"/>
          </p:cNvSpPr>
          <p:nvPr>
            <p:ph idx="1"/>
          </p:nvPr>
        </p:nvSpPr>
        <p:spPr/>
        <p:txBody>
          <a:bodyPr>
            <a:noAutofit/>
          </a:bodyPr>
          <a:lstStyle/>
          <a:p>
            <a:pPr marL="514350" indent="-514350">
              <a:buFont typeface="+mj-lt"/>
              <a:buAutoNum type="arabicPeriod"/>
            </a:pPr>
            <a:r>
              <a:rPr lang="en-GB" sz="1400" dirty="0"/>
              <a:t>/id</a:t>
            </a:r>
          </a:p>
          <a:p>
            <a:pPr lvl="1"/>
            <a:r>
              <a:rPr lang="en-GB" sz="1400" dirty="0"/>
              <a:t>Great for load balancing but not great for queries (every query would be a fanout query)</a:t>
            </a:r>
          </a:p>
          <a:p>
            <a:pPr marL="514350" indent="-514350">
              <a:buFont typeface="+mj-lt"/>
              <a:buAutoNum type="arabicPeriod"/>
            </a:pPr>
            <a:r>
              <a:rPr lang="en-GB" sz="1400" dirty="0"/>
              <a:t>/URN</a:t>
            </a:r>
          </a:p>
          <a:p>
            <a:pPr lvl="1"/>
            <a:r>
              <a:rPr lang="en-GB" sz="1400" dirty="0"/>
              <a:t>Works for querying patterns (query by URN)</a:t>
            </a:r>
          </a:p>
          <a:p>
            <a:pPr lvl="1"/>
            <a:r>
              <a:rPr lang="en-GB" sz="1400" b="0" i="0" dirty="0">
                <a:effectLst/>
                <a:latin typeface="Segoe UI VSS (Regular)"/>
              </a:rPr>
              <a:t>URN exists on pupil-level and school-level data but not LA- or national-level</a:t>
            </a:r>
            <a:endParaRPr lang="en-GB" sz="1400" dirty="0"/>
          </a:p>
          <a:p>
            <a:pPr marL="514350" indent="-514350">
              <a:buFont typeface="+mj-lt"/>
              <a:buAutoNum type="arabicPeriod"/>
            </a:pPr>
            <a:r>
              <a:rPr lang="en-GB" sz="1400" dirty="0"/>
              <a:t>/</a:t>
            </a:r>
            <a:r>
              <a:rPr lang="en-GB" sz="1400" dirty="0" err="1"/>
              <a:t>partitionKey</a:t>
            </a:r>
            <a:endParaRPr lang="en-GB" sz="1400" dirty="0"/>
          </a:p>
          <a:p>
            <a:pPr lvl="1"/>
            <a:r>
              <a:rPr lang="en-GB" sz="1400" dirty="0"/>
              <a:t>Custom field defined on each document</a:t>
            </a:r>
          </a:p>
          <a:p>
            <a:pPr lvl="1"/>
            <a:r>
              <a:rPr lang="en-GB" sz="1400" dirty="0"/>
              <a:t>URN for Pupil and School, LA Code for LA, “National” or “N” for National data</a:t>
            </a:r>
          </a:p>
          <a:p>
            <a:pPr lvl="1"/>
            <a:r>
              <a:rPr lang="en-GB" sz="1400" dirty="0"/>
              <a:t>Need to query Pupil, School, LA and National data together – fanout query</a:t>
            </a:r>
          </a:p>
          <a:p>
            <a:pPr marL="514350" indent="-514350">
              <a:buFont typeface="+mj-lt"/>
              <a:buAutoNum type="arabicPeriod"/>
            </a:pPr>
            <a:r>
              <a:rPr lang="en-GB" sz="1400" dirty="0"/>
              <a:t>Back to /URN</a:t>
            </a:r>
          </a:p>
          <a:p>
            <a:pPr lvl="1"/>
            <a:r>
              <a:rPr lang="en-GB" sz="1400" dirty="0"/>
              <a:t>Duplicate LA and National documents for each URN?</a:t>
            </a:r>
          </a:p>
          <a:p>
            <a:pPr lvl="1"/>
            <a:r>
              <a:rPr lang="en-GB" sz="1400" dirty="0"/>
              <a:t>Cost is extra storage but queries are now within a single partition - storage much less expensive than throughput</a:t>
            </a:r>
          </a:p>
          <a:p>
            <a:pPr lvl="1"/>
            <a:r>
              <a:rPr lang="en-GB" sz="1400" dirty="0"/>
              <a:t>Q</a:t>
            </a:r>
            <a:r>
              <a:rPr lang="en-GB" sz="1400" b="0" i="0" dirty="0">
                <a:effectLst/>
              </a:rPr>
              <a:t>uerying by URN isn't the only use case – need to query by LA Code too – fanout query</a:t>
            </a:r>
            <a:endParaRPr lang="en-GB" sz="1400" dirty="0"/>
          </a:p>
          <a:p>
            <a:pPr marL="514350" indent="-514350">
              <a:buFont typeface="+mj-lt"/>
              <a:buAutoNum type="arabicPeriod"/>
            </a:pPr>
            <a:r>
              <a:rPr lang="en-GB" sz="1400" dirty="0"/>
              <a:t>Back to /</a:t>
            </a:r>
            <a:r>
              <a:rPr lang="en-GB" sz="1400" dirty="0" err="1"/>
              <a:t>partitionKey</a:t>
            </a:r>
            <a:endParaRPr lang="en-GB" sz="1400" dirty="0"/>
          </a:p>
          <a:p>
            <a:pPr lvl="1"/>
            <a:r>
              <a:rPr lang="en-GB" sz="1400" dirty="0"/>
              <a:t>Bring back custom </a:t>
            </a:r>
            <a:r>
              <a:rPr lang="en-GB" sz="1400" dirty="0" err="1"/>
              <a:t>partitionKey</a:t>
            </a:r>
            <a:r>
              <a:rPr lang="en-GB" sz="1400" dirty="0"/>
              <a:t> field</a:t>
            </a:r>
          </a:p>
          <a:p>
            <a:pPr lvl="1"/>
            <a:r>
              <a:rPr lang="en-GB" sz="1400" dirty="0"/>
              <a:t>Create duplicates of the LA and National documents for each school and LA and set </a:t>
            </a:r>
            <a:r>
              <a:rPr lang="en-GB" sz="1400" dirty="0" err="1"/>
              <a:t>partitionKey</a:t>
            </a:r>
            <a:r>
              <a:rPr lang="en-GB" sz="1400" dirty="0"/>
              <a:t> to either the URN or the LA code</a:t>
            </a:r>
          </a:p>
        </p:txBody>
      </p:sp>
    </p:spTree>
    <p:extLst>
      <p:ext uri="{BB962C8B-B14F-4D97-AF65-F5344CB8AC3E}">
        <p14:creationId xmlns:p14="http://schemas.microsoft.com/office/powerpoint/2010/main" val="907141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25C7B-9667-529E-78F9-B083FB0F8F45}"/>
              </a:ext>
            </a:extLst>
          </p:cNvPr>
          <p:cNvSpPr>
            <a:spLocks noGrp="1"/>
          </p:cNvSpPr>
          <p:nvPr>
            <p:ph type="title"/>
          </p:nvPr>
        </p:nvSpPr>
        <p:spPr/>
        <p:txBody>
          <a:bodyPr/>
          <a:lstStyle/>
          <a:p>
            <a:r>
              <a:rPr lang="en-GB" dirty="0"/>
              <a:t>Data structure</a:t>
            </a:r>
          </a:p>
        </p:txBody>
      </p:sp>
      <p:sp>
        <p:nvSpPr>
          <p:cNvPr id="3" name="Content Placeholder 2">
            <a:extLst>
              <a:ext uri="{FF2B5EF4-FFF2-40B4-BE49-F238E27FC236}">
                <a16:creationId xmlns:a16="http://schemas.microsoft.com/office/drawing/2014/main" id="{AA7DC59A-1163-ACDD-D185-F1CBB40C2375}"/>
              </a:ext>
            </a:extLst>
          </p:cNvPr>
          <p:cNvSpPr>
            <a:spLocks noGrp="1"/>
          </p:cNvSpPr>
          <p:nvPr>
            <p:ph idx="1"/>
          </p:nvPr>
        </p:nvSpPr>
        <p:spPr/>
        <p:txBody>
          <a:bodyPr/>
          <a:lstStyle/>
          <a:p>
            <a:r>
              <a:rPr lang="en-GB" dirty="0"/>
              <a:t>Cosmos best practice is to </a:t>
            </a:r>
            <a:r>
              <a:rPr lang="en-GB" dirty="0" err="1"/>
              <a:t>denormalize</a:t>
            </a:r>
            <a:r>
              <a:rPr lang="en-GB" dirty="0"/>
              <a:t> data</a:t>
            </a:r>
          </a:p>
          <a:p>
            <a:r>
              <a:rPr lang="en-GB" dirty="0"/>
              <a:t>Can we combine all data into one document for each school/LA?</a:t>
            </a:r>
          </a:p>
          <a:p>
            <a:r>
              <a:rPr lang="en-GB" dirty="0"/>
              <a:t>Max document size 2MB</a:t>
            </a:r>
          </a:p>
          <a:p>
            <a:r>
              <a:rPr lang="en-GB" dirty="0"/>
              <a:t>Largest combined size of data for one school is 2.69MB</a:t>
            </a:r>
          </a:p>
          <a:p>
            <a:r>
              <a:rPr lang="en-GB" dirty="0"/>
              <a:t>Could combine School, LA, National data together into one document but keep pupil data as separate documents?</a:t>
            </a:r>
          </a:p>
          <a:p>
            <a:r>
              <a:rPr lang="en-GB" dirty="0"/>
              <a:t>QLA Year 7 custom view needs to find pupils by UPN across all schools</a:t>
            </a:r>
          </a:p>
        </p:txBody>
      </p:sp>
    </p:spTree>
    <p:extLst>
      <p:ext uri="{BB962C8B-B14F-4D97-AF65-F5344CB8AC3E}">
        <p14:creationId xmlns:p14="http://schemas.microsoft.com/office/powerpoint/2010/main" val="17720484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C543F-96F8-7195-0995-F2A6CB783DEE}"/>
              </a:ext>
            </a:extLst>
          </p:cNvPr>
          <p:cNvSpPr>
            <a:spLocks noGrp="1"/>
          </p:cNvSpPr>
          <p:nvPr>
            <p:ph type="title"/>
          </p:nvPr>
        </p:nvSpPr>
        <p:spPr/>
        <p:txBody>
          <a:bodyPr/>
          <a:lstStyle/>
          <a:p>
            <a:r>
              <a:rPr lang="en-GB" dirty="0"/>
              <a:t>Example document structures</a:t>
            </a:r>
          </a:p>
        </p:txBody>
      </p:sp>
      <p:sp>
        <p:nvSpPr>
          <p:cNvPr id="3" name="Content Placeholder 2">
            <a:extLst>
              <a:ext uri="{FF2B5EF4-FFF2-40B4-BE49-F238E27FC236}">
                <a16:creationId xmlns:a16="http://schemas.microsoft.com/office/drawing/2014/main" id="{434636E5-99F2-75DE-DE60-BBE186D90EF1}"/>
              </a:ext>
            </a:extLst>
          </p:cNvPr>
          <p:cNvSpPr>
            <a:spLocks noGrp="1"/>
          </p:cNvSpPr>
          <p:nvPr>
            <p:ph idx="1"/>
          </p:nvPr>
        </p:nvSpPr>
        <p:spPr/>
        <p:txBody>
          <a:bodyPr/>
          <a:lstStyle/>
          <a:p>
            <a:r>
              <a:rPr lang="en-GB" dirty="0"/>
              <a:t>School</a:t>
            </a:r>
          </a:p>
          <a:p>
            <a:r>
              <a:rPr lang="en-GB" dirty="0"/>
              <a:t>LA</a:t>
            </a:r>
          </a:p>
        </p:txBody>
      </p:sp>
    </p:spTree>
    <p:extLst>
      <p:ext uri="{BB962C8B-B14F-4D97-AF65-F5344CB8AC3E}">
        <p14:creationId xmlns:p14="http://schemas.microsoft.com/office/powerpoint/2010/main" val="20197926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7E094-0380-4625-82B4-5C67B4363919}"/>
              </a:ext>
            </a:extLst>
          </p:cNvPr>
          <p:cNvSpPr>
            <a:spLocks noGrp="1"/>
          </p:cNvSpPr>
          <p:nvPr>
            <p:ph type="title"/>
          </p:nvPr>
        </p:nvSpPr>
        <p:spPr/>
        <p:txBody>
          <a:bodyPr/>
          <a:lstStyle/>
          <a:p>
            <a:r>
              <a:rPr lang="en-GB" dirty="0"/>
              <a:t>Changes to import pipeline for ASP 2.0</a:t>
            </a:r>
          </a:p>
        </p:txBody>
      </p:sp>
      <p:sp>
        <p:nvSpPr>
          <p:cNvPr id="3" name="Content Placeholder 2">
            <a:extLst>
              <a:ext uri="{FF2B5EF4-FFF2-40B4-BE49-F238E27FC236}">
                <a16:creationId xmlns:a16="http://schemas.microsoft.com/office/drawing/2014/main" id="{9453F065-F059-8F87-1EF7-0BE0CFEDD7EA}"/>
              </a:ext>
            </a:extLst>
          </p:cNvPr>
          <p:cNvSpPr>
            <a:spLocks noGrp="1"/>
          </p:cNvSpPr>
          <p:nvPr>
            <p:ph idx="1"/>
          </p:nvPr>
        </p:nvSpPr>
        <p:spPr/>
        <p:txBody>
          <a:bodyPr>
            <a:normAutofit fontScale="62500" lnSpcReduction="20000"/>
          </a:bodyPr>
          <a:lstStyle/>
          <a:p>
            <a:pPr marL="0" indent="0">
              <a:buNone/>
            </a:pPr>
            <a:r>
              <a:rPr lang="en-GB" dirty="0"/>
              <a:t>Following the suggestions above, the changes to the data import pipeline for v2 would be:</a:t>
            </a:r>
          </a:p>
          <a:p>
            <a:r>
              <a:rPr lang="en-GB" dirty="0"/>
              <a:t>Import all datasets into a single container. Needs the following fields on all documents to be created as part of the import process:</a:t>
            </a:r>
          </a:p>
          <a:p>
            <a:pPr lvl="1"/>
            <a:r>
              <a:rPr lang="en-GB" dirty="0" err="1">
                <a:highlight>
                  <a:srgbClr val="C0C0C0"/>
                </a:highlight>
                <a:latin typeface="Consolas" panose="020B0609020204030204" pitchFamily="49" charset="0"/>
              </a:rPr>
              <a:t>dataSetType</a:t>
            </a:r>
            <a:r>
              <a:rPr lang="en-GB" dirty="0"/>
              <a:t>: set to "KeyStage1", "QLA" etc. (these would need to be pre-defined values for all datasets)</a:t>
            </a:r>
          </a:p>
          <a:p>
            <a:pPr lvl="1"/>
            <a:r>
              <a:rPr lang="en-GB" dirty="0">
                <a:highlight>
                  <a:srgbClr val="C0C0C0"/>
                </a:highlight>
                <a:latin typeface="Consolas" panose="020B0609020204030204" pitchFamily="49" charset="0"/>
              </a:rPr>
              <a:t>year</a:t>
            </a:r>
            <a:r>
              <a:rPr lang="en-GB" dirty="0"/>
              <a:t>: set to 2022, 2023 etc.</a:t>
            </a:r>
          </a:p>
          <a:p>
            <a:pPr lvl="1"/>
            <a:r>
              <a:rPr lang="en-GB" dirty="0">
                <a:highlight>
                  <a:srgbClr val="C0C0C0"/>
                </a:highlight>
                <a:latin typeface="Consolas" panose="020B0609020204030204" pitchFamily="49" charset="0"/>
              </a:rPr>
              <a:t>version</a:t>
            </a:r>
            <a:r>
              <a:rPr lang="en-GB" dirty="0"/>
              <a:t>: set to "Provisional", "Revised", "Final" / "P", "R", "F" - or values that are orderable in order to find the latest version e.g. 1 for provisional, 2 for revised, 3 for final (the version names will give the wrong order when sorted alphabetically)</a:t>
            </a:r>
          </a:p>
          <a:p>
            <a:pPr lvl="1"/>
            <a:r>
              <a:rPr lang="en-GB" dirty="0">
                <a:highlight>
                  <a:srgbClr val="C0C0C0"/>
                </a:highlight>
                <a:latin typeface="Consolas" panose="020B0609020204030204" pitchFamily="49" charset="0"/>
              </a:rPr>
              <a:t>scope</a:t>
            </a:r>
            <a:r>
              <a:rPr lang="en-GB" dirty="0"/>
              <a:t>: set to School, LA or Pupil - this is to distinguish the type of document when querying (National values are bundled into the top-level school or LA documents)</a:t>
            </a:r>
          </a:p>
          <a:p>
            <a:pPr lvl="1"/>
            <a:r>
              <a:rPr lang="en-GB" dirty="0" err="1">
                <a:highlight>
                  <a:srgbClr val="C0C0C0"/>
                </a:highlight>
                <a:latin typeface="Consolas" panose="020B0609020204030204" pitchFamily="49" charset="0"/>
              </a:rPr>
              <a:t>partitionKey</a:t>
            </a:r>
            <a:r>
              <a:rPr lang="en-GB" dirty="0"/>
              <a:t>: set to the value of the URN field (for school and pupil documents) or LA field (for LA documents) converted to string</a:t>
            </a:r>
          </a:p>
          <a:p>
            <a:r>
              <a:rPr lang="en-GB" dirty="0"/>
              <a:t>Also requires the import process to know which type of document it is importing and where to find the correct value for the partition key from each type of document</a:t>
            </a:r>
          </a:p>
          <a:p>
            <a:r>
              <a:rPr lang="en-GB" dirty="0"/>
              <a:t>Should also take into account the different names the URN field could have as discussed in the Partitions section above</a:t>
            </a:r>
          </a:p>
          <a:p>
            <a:r>
              <a:rPr lang="en-GB" dirty="0"/>
              <a:t>Add copies of all the School, National and LA level data into a single document for each school, and copies of all the LA and National level data into a single document for each LA</a:t>
            </a:r>
          </a:p>
        </p:txBody>
      </p:sp>
    </p:spTree>
    <p:extLst>
      <p:ext uri="{BB962C8B-B14F-4D97-AF65-F5344CB8AC3E}">
        <p14:creationId xmlns:p14="http://schemas.microsoft.com/office/powerpoint/2010/main" val="40714301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EFC98-A6A8-BD77-123E-738FBB6B65B6}"/>
              </a:ext>
            </a:extLst>
          </p:cNvPr>
          <p:cNvSpPr>
            <a:spLocks noGrp="1"/>
          </p:cNvSpPr>
          <p:nvPr>
            <p:ph type="title"/>
          </p:nvPr>
        </p:nvSpPr>
        <p:spPr/>
        <p:txBody>
          <a:bodyPr/>
          <a:lstStyle/>
          <a:p>
            <a:r>
              <a:rPr lang="en-GB" dirty="0"/>
              <a:t>Do we even need Cosmos?</a:t>
            </a:r>
          </a:p>
        </p:txBody>
      </p:sp>
      <p:sp>
        <p:nvSpPr>
          <p:cNvPr id="3" name="Content Placeholder 2">
            <a:extLst>
              <a:ext uri="{FF2B5EF4-FFF2-40B4-BE49-F238E27FC236}">
                <a16:creationId xmlns:a16="http://schemas.microsoft.com/office/drawing/2014/main" id="{71E339FC-51BE-D5C9-A9C3-B47FBE20A299}"/>
              </a:ext>
            </a:extLst>
          </p:cNvPr>
          <p:cNvSpPr>
            <a:spLocks noGrp="1"/>
          </p:cNvSpPr>
          <p:nvPr>
            <p:ph idx="1"/>
          </p:nvPr>
        </p:nvSpPr>
        <p:spPr/>
        <p:txBody>
          <a:bodyPr>
            <a:normAutofit fontScale="92500" lnSpcReduction="20000"/>
          </a:bodyPr>
          <a:lstStyle/>
          <a:p>
            <a:r>
              <a:rPr lang="en-GB" dirty="0"/>
              <a:t>Data is static: only created, never updated</a:t>
            </a:r>
          </a:p>
          <a:p>
            <a:r>
              <a:rPr lang="en-GB" dirty="0"/>
              <a:t>Cosmos is expensive</a:t>
            </a:r>
          </a:p>
          <a:p>
            <a:r>
              <a:rPr lang="en-GB" dirty="0"/>
              <a:t>Can we store Dataset data in Blob Storage instead?</a:t>
            </a:r>
          </a:p>
          <a:p>
            <a:r>
              <a:rPr lang="en-GB" dirty="0"/>
              <a:t>Then could have one document for each School/LA</a:t>
            </a:r>
          </a:p>
          <a:p>
            <a:r>
              <a:rPr lang="en-GB" dirty="0"/>
              <a:t>Include pupil data in document?</a:t>
            </a:r>
          </a:p>
          <a:p>
            <a:r>
              <a:rPr lang="en-GB" dirty="0"/>
              <a:t>Can Data pipeline support this?</a:t>
            </a:r>
          </a:p>
          <a:p>
            <a:r>
              <a:rPr lang="en-GB" dirty="0"/>
              <a:t>Considerations:</a:t>
            </a:r>
          </a:p>
          <a:p>
            <a:pPr marL="971550" lvl="1" indent="-514350">
              <a:buFont typeface="+mj-lt"/>
              <a:buAutoNum type="arabicPeriod"/>
            </a:pPr>
            <a:r>
              <a:rPr lang="en-GB" dirty="0"/>
              <a:t>Throughput</a:t>
            </a:r>
          </a:p>
          <a:p>
            <a:pPr marL="971550" lvl="1" indent="-514350">
              <a:buFont typeface="+mj-lt"/>
              <a:buAutoNum type="arabicPeriod"/>
            </a:pPr>
            <a:r>
              <a:rPr lang="en-GB" dirty="0"/>
              <a:t>Cost</a:t>
            </a:r>
          </a:p>
          <a:p>
            <a:pPr marL="971550" lvl="1" indent="-514350">
              <a:buFont typeface="+mj-lt"/>
              <a:buAutoNum type="arabicPeriod"/>
            </a:pPr>
            <a:r>
              <a:rPr lang="en-GB" dirty="0"/>
              <a:t>Request time</a:t>
            </a:r>
          </a:p>
          <a:p>
            <a:pPr marL="971550" lvl="1" indent="-514350">
              <a:buFont typeface="+mj-lt"/>
              <a:buAutoNum type="arabicPeriod"/>
            </a:pPr>
            <a:r>
              <a:rPr lang="en-GB" dirty="0"/>
              <a:t>Document size</a:t>
            </a:r>
          </a:p>
          <a:p>
            <a:pPr marL="971550" lvl="1" indent="-514350">
              <a:buFont typeface="+mj-lt"/>
              <a:buAutoNum type="arabicPeriod"/>
            </a:pPr>
            <a:r>
              <a:rPr lang="en-GB" dirty="0"/>
              <a:t>Query complexity</a:t>
            </a:r>
          </a:p>
        </p:txBody>
      </p:sp>
    </p:spTree>
    <p:extLst>
      <p:ext uri="{BB962C8B-B14F-4D97-AF65-F5344CB8AC3E}">
        <p14:creationId xmlns:p14="http://schemas.microsoft.com/office/powerpoint/2010/main" val="379728934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3331</TotalTime>
  <Words>2041</Words>
  <Application>Microsoft Office PowerPoint</Application>
  <PresentationFormat>Widescreen</PresentationFormat>
  <Paragraphs>166</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az_ea_font</vt:lpstr>
      <vt:lpstr>Calibri</vt:lpstr>
      <vt:lpstr>Calibri Light</vt:lpstr>
      <vt:lpstr>Consolas</vt:lpstr>
      <vt:lpstr>Segoe UI VSS (Regular)</vt:lpstr>
      <vt:lpstr>Office Theme</vt:lpstr>
      <vt:lpstr>ASP 2.0 Data Storage</vt:lpstr>
      <vt:lpstr>Data in ASP</vt:lpstr>
      <vt:lpstr>Dataset dimensions</vt:lpstr>
      <vt:lpstr>Problems!</vt:lpstr>
      <vt:lpstr>Best use of Cosmos for ASP 2.0</vt:lpstr>
      <vt:lpstr>Querying patterns</vt:lpstr>
      <vt:lpstr>Containers</vt:lpstr>
      <vt:lpstr>One container per DatasetType x Scope x Year x Version </vt:lpstr>
      <vt:lpstr>One container per DatasetType</vt:lpstr>
      <vt:lpstr>One container for all DatasetTypes</vt:lpstr>
      <vt:lpstr>Partitions</vt:lpstr>
      <vt:lpstr>Partition keys</vt:lpstr>
      <vt:lpstr>Possible partition keys</vt:lpstr>
      <vt:lpstr>Data structure</vt:lpstr>
      <vt:lpstr>Example document structures</vt:lpstr>
      <vt:lpstr>Changes to import pipeline for ASP 2.0</vt:lpstr>
      <vt:lpstr>Do we even need Cosmos?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ASP 2.0 Data Storage</dc:title>
  <dc:creator>SHERWIN, Stu</dc:creator>
  <cp:lastModifiedBy>Stu SHERWIN</cp:lastModifiedBy>
  <cp:revision>1</cp:revision>
  <dcterms:created xsi:type="dcterms:W3CDTF">2023-09-19T09:32:13Z</dcterms:created>
  <dcterms:modified xsi:type="dcterms:W3CDTF">2023-09-21T17:03:28Z</dcterms:modified>
</cp:coreProperties>
</file>